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080" autoAdjust="0"/>
  </p:normalViewPr>
  <p:slideViewPr>
    <p:cSldViewPr snapToGrid="0" snapToObjects="1">
      <p:cViewPr>
        <p:scale>
          <a:sx n="69" d="100"/>
          <a:sy n="69" d="100"/>
        </p:scale>
        <p:origin x="540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14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días. Voy a presentar TMX Enterprise AI Multi-Agent Platform, mi proyecto final, desde la</a:t>
            </a:r>
          </a:p>
          <a:p>
            <a:r>
              <a:t>perspectiva de un arquitecto de soluciones: no solo qué se construyó, sino por qué cada decisión</a:t>
            </a:r>
          </a:p>
          <a:p>
            <a:r>
              <a:t>arquitectónica se tomó así y qué alternativas se evaluaron y descartaron.</a:t>
            </a:r>
          </a:p>
          <a:p>
            <a:r>
              <a:t>Es una implementación de referencia académica: usa datos sintéticos y APIs de negocio simuladas,</a:t>
            </a:r>
          </a:p>
          <a:p>
            <a:r>
              <a:t>y explícitamente no representa una arquitectura de producción oficialmente aprobada por ninguna</a:t>
            </a:r>
          </a:p>
          <a:p>
            <a:r>
              <a:t>organización real. Esa distinción es importante porque va a aparecer varias veces durante la</a:t>
            </a:r>
          </a:p>
          <a:p>
            <a:r>
              <a:t>presentación: voy a separar siempre lo que está implementado y probado hoy de lo que es</a:t>
            </a:r>
          </a:p>
          <a:p>
            <a:r>
              <a:t>arquitectura objetivo para un escenario de producción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pregunta arquitectónica de fondo en esta diapositiva es: ¿por qué estos procesos están</a:t>
            </a:r>
          </a:p>
          <a:p>
            <a:r>
              <a:t>fragmentados en primer lugar? No es un descuido operativo — cada proceso de seguros (siniestros,</a:t>
            </a:r>
          </a:p>
          <a:p>
            <a:r>
              <a:t>servicios a corredores, nuevos negocios) se especializó con su propio conocimiento de dominio, y</a:t>
            </a:r>
          </a:p>
          <a:p>
            <a:r>
              <a:t>esa especialización tiene valor real. El problema no es la especialización interna; es que esa</a:t>
            </a:r>
          </a:p>
          <a:p>
            <a:r>
              <a:t>fragmentación se traslada tal cual al usuario, obligándolo a saber de antemano a qué área dirigirse.</a:t>
            </a:r>
          </a:p>
          <a:p>
            <a:r>
              <a:t>La alternativa obvia —fusionar los tres procesos en un solo sistema monolítico— se descartó</a:t>
            </a:r>
          </a:p>
          <a:p>
            <a:r>
              <a:t>implícitamente por ser costosa y riesgosa: reescribir la lógica de negocio de tres dominios para</a:t>
            </a:r>
          </a:p>
          <a:p>
            <a:r>
              <a:t>unificarlos no es proporcional al problema real, que es de experiencia de usuario, no de lógica de</a:t>
            </a:r>
          </a:p>
          <a:p>
            <a:r>
              <a:t>negocio. Una arquitectura multiagente resuelve exactamente esa asimetría: cada agente conserva la</a:t>
            </a:r>
          </a:p>
          <a:p>
            <a:r>
              <a:t>especialización de su dominio, y un supervisor común resuelve la fragmentación únicamente en la</a:t>
            </a:r>
          </a:p>
          <a:p>
            <a:r>
              <a:t>capa de experiencia, sin tocar los sistemas subyacentes. Esa es la justificación arquitectónica del</a:t>
            </a:r>
          </a:p>
          <a:p>
            <a:r>
              <a:t>patrón, no solo una elección de moda por usar IA generativa.</a:t>
            </a:r>
          </a:p>
          <a:p>
            <a:r>
              <a:t>Noten que deliberadamente no hablé de KPIs técnicos, de Azure, ni de autenticación en esta</a:t>
            </a:r>
          </a:p>
          <a:p>
            <a:r>
              <a:t>diapositiva — eso viene después. Esta diapositiva responde una sola pregunta: ¿por qué vale la pena</a:t>
            </a:r>
          </a:p>
          <a:p>
            <a:r>
              <a:t>resolver este problema con este patrón?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Antes de mostrar el diagrama completo, quiero dejar explícitos los principios que guían cada</a:t>
            </a:r>
          </a:p>
          <a:p>
            <a:r>
              <a:t>decisión de diseño — porque todo lo que van a ver en la diapositiva siguiente es una consecuencia</a:t>
            </a:r>
          </a:p>
          <a:p>
            <a:r>
              <a:t>directa de estos seis principios, no decisiones aisladas.</a:t>
            </a:r>
          </a:p>
          <a:p>
            <a:r>
              <a:t>API First y separación de dominios responden a la misma preocupación que la diapositiva anterior:</a:t>
            </a:r>
          </a:p>
          <a:p>
            <a:r>
              <a:t>mantener los dominios de negocio independientes entre sí. Tool Calling determinista es</a:t>
            </a:r>
          </a:p>
          <a:p>
            <a:r>
              <a:t>probablemente el principio más importante del proyecto: el modelo de lenguaje interpreta lenguaje</a:t>
            </a:r>
          </a:p>
          <a:p>
            <a:r>
              <a:t>natural, pero jamás ejecuta una acción de negocio por sí mismo — solo puede solicitar una</a:t>
            </a:r>
          </a:p>
          <a:p>
            <a:r>
              <a:t>herramienta, y una capa determinista decide si esa solicitud es válida y la ejecuta. Esto es lo</a:t>
            </a:r>
          </a:p>
          <a:p>
            <a:r>
              <a:t>que hace que el sistema sea auditable: cada acción de negocio tiene un registro determinista, no</a:t>
            </a:r>
          </a:p>
          <a:p>
            <a:r>
              <a:t>una inferencia probabilística.</a:t>
            </a:r>
          </a:p>
          <a:p>
            <a:r>
              <a:t>El acoplamiento débil mediante interfaces (Protocols en Python) es lo que permitió, por ejemplo,</a:t>
            </a:r>
          </a:p>
          <a:p>
            <a:r>
              <a:t>agregar autenticación empresarial completa sin reescribir la lógica de negocio, o diseñar la capa</a:t>
            </a:r>
          </a:p>
          <a:p>
            <a:r>
              <a:t>serverless sin comprometer el resto del sistema mientras no está desplegada — ambos casos los van</a:t>
            </a:r>
          </a:p>
          <a:p>
            <a:r>
              <a:t>a ver más adelante. Seguridad por diseño significa que la identidad se valida una sola vez, en el</a:t>
            </a:r>
          </a:p>
          <a:p>
            <a:r>
              <a:t>borde del sistema, y todo lo interno confía en esa validación — nunca se revalida ni se asume en</a:t>
            </a:r>
          </a:p>
          <a:p>
            <a:r>
              <a:t>capas internas. Y Cloud Native es la razón por la que no hay servidores que administrar manualmente</a:t>
            </a:r>
          </a:p>
          <a:p>
            <a:r>
              <a:t>en ningún punto de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es la </a:t>
            </a:r>
            <a:r>
              <a:rPr dirty="0" err="1"/>
              <a:t>diapositiva</a:t>
            </a:r>
            <a:r>
              <a:rPr dirty="0"/>
              <a:t> central de </a:t>
            </a:r>
            <a:r>
              <a:rPr dirty="0" err="1"/>
              <a:t>toda</a:t>
            </a:r>
            <a:r>
              <a:rPr dirty="0"/>
              <a:t> la defensa,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recorrerla</a:t>
            </a:r>
            <a:r>
              <a:rPr dirty="0"/>
              <a:t> de </a:t>
            </a:r>
            <a:r>
              <a:rPr dirty="0" err="1"/>
              <a:t>arriba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</a:t>
            </a:r>
            <a:r>
              <a:rPr dirty="0" err="1"/>
              <a:t>abajo</a:t>
            </a:r>
            <a:endParaRPr dirty="0"/>
          </a:p>
          <a:p>
            <a:r>
              <a:rPr dirty="0" err="1"/>
              <a:t>explicando</a:t>
            </a:r>
            <a:r>
              <a:rPr dirty="0"/>
              <a:t> el </a:t>
            </a:r>
            <a:r>
              <a:rPr dirty="0" err="1"/>
              <a:t>porqué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, no solo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.</a:t>
            </a:r>
          </a:p>
          <a:p>
            <a:r>
              <a:rPr dirty="0"/>
              <a:t>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empieza</a:t>
            </a:r>
            <a:r>
              <a:rPr dirty="0"/>
              <a:t> con el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autenticándose</a:t>
            </a:r>
            <a:r>
              <a:rPr dirty="0"/>
              <a:t> contra Microsoft Entra ID </a:t>
            </a:r>
            <a:r>
              <a:rPr dirty="0" err="1"/>
              <a:t>mediante</a:t>
            </a:r>
            <a:r>
              <a:rPr dirty="0"/>
              <a:t> OAuth2</a:t>
            </a:r>
          </a:p>
          <a:p>
            <a:r>
              <a:rPr dirty="0"/>
              <a:t>Authorization Code con PKCE — 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recomendado</a:t>
            </a:r>
            <a:r>
              <a:rPr dirty="0"/>
              <a:t> para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SPA, </a:t>
            </a:r>
            <a:r>
              <a:rPr dirty="0" err="1"/>
              <a:t>que</a:t>
            </a:r>
            <a:endParaRPr dirty="0"/>
          </a:p>
          <a:p>
            <a:r>
              <a:rPr dirty="0"/>
              <a:t>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guardar</a:t>
            </a:r>
            <a:r>
              <a:rPr dirty="0"/>
              <a:t> un </a:t>
            </a:r>
            <a:r>
              <a:rPr dirty="0" err="1"/>
              <a:t>secreto</a:t>
            </a:r>
            <a:r>
              <a:rPr dirty="0"/>
              <a:t> de </a:t>
            </a:r>
            <a:r>
              <a:rPr dirty="0" err="1"/>
              <a:t>cliente</a:t>
            </a:r>
            <a:r>
              <a:rPr dirty="0"/>
              <a:t> de forma </a:t>
            </a:r>
            <a:r>
              <a:rPr dirty="0" err="1"/>
              <a:t>segura</a:t>
            </a:r>
            <a:r>
              <a:rPr dirty="0"/>
              <a:t>. Cada </a:t>
            </a:r>
            <a:r>
              <a:rPr dirty="0" err="1"/>
              <a:t>solicitud</a:t>
            </a:r>
            <a:r>
              <a:rPr dirty="0"/>
              <a:t> </a:t>
            </a:r>
            <a:r>
              <a:rPr dirty="0" err="1"/>
              <a:t>subsiguiente</a:t>
            </a:r>
            <a:r>
              <a:rPr dirty="0"/>
              <a:t> </a:t>
            </a:r>
            <a:r>
              <a:rPr dirty="0" err="1"/>
              <a:t>llega</a:t>
            </a:r>
            <a:r>
              <a:rPr dirty="0"/>
              <a:t> a </a:t>
            </a:r>
            <a:r>
              <a:rPr dirty="0" err="1"/>
              <a:t>FastAPI</a:t>
            </a:r>
            <a:endParaRPr dirty="0"/>
          </a:p>
          <a:p>
            <a:r>
              <a:rPr dirty="0"/>
              <a:t>con un token, y </a:t>
            </a:r>
            <a:r>
              <a:rPr dirty="0" err="1"/>
              <a:t>FastAPI</a:t>
            </a:r>
            <a:r>
              <a:rPr dirty="0"/>
              <a:t> lo </a:t>
            </a:r>
            <a:r>
              <a:rPr dirty="0" err="1"/>
              <a:t>valida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— </a:t>
            </a:r>
            <a:r>
              <a:rPr dirty="0" err="1"/>
              <a:t>firma</a:t>
            </a:r>
            <a:r>
              <a:rPr dirty="0"/>
              <a:t>, </a:t>
            </a:r>
            <a:r>
              <a:rPr dirty="0" err="1"/>
              <a:t>expiración</a:t>
            </a:r>
            <a:r>
              <a:rPr dirty="0"/>
              <a:t>, audiencia y </a:t>
            </a:r>
            <a:r>
              <a:rPr dirty="0" err="1"/>
              <a:t>emisor</a:t>
            </a:r>
            <a:r>
              <a:rPr dirty="0"/>
              <a:t> — contra las</a:t>
            </a:r>
          </a:p>
          <a:p>
            <a:r>
              <a:rPr dirty="0"/>
              <a:t>claves </a:t>
            </a:r>
            <a:r>
              <a:rPr dirty="0" err="1"/>
              <a:t>públicas</a:t>
            </a:r>
            <a:r>
              <a:rPr dirty="0"/>
              <a:t> </a:t>
            </a:r>
            <a:r>
              <a:rPr dirty="0" err="1"/>
              <a:t>publicadas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Entra ID (JWKS).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posterior </a:t>
            </a:r>
            <a:r>
              <a:rPr dirty="0" err="1"/>
              <a:t>vuelve</a:t>
            </a:r>
            <a:r>
              <a:rPr dirty="0"/>
              <a:t> a </a:t>
            </a:r>
            <a:r>
              <a:rPr dirty="0" err="1"/>
              <a:t>preguntar</a:t>
            </a:r>
            <a:endParaRPr dirty="0"/>
          </a:p>
          <a:p>
            <a:r>
              <a:rPr dirty="0" err="1"/>
              <a:t>quién</a:t>
            </a:r>
            <a:r>
              <a:rPr dirty="0"/>
              <a:t> es el </a:t>
            </a:r>
            <a:r>
              <a:rPr dirty="0" err="1"/>
              <a:t>usuario</a:t>
            </a:r>
            <a:r>
              <a:rPr dirty="0"/>
              <a:t>: </a:t>
            </a:r>
            <a:r>
              <a:rPr dirty="0" err="1"/>
              <a:t>esa</a:t>
            </a:r>
            <a:r>
              <a:rPr dirty="0"/>
              <a:t> es la </a:t>
            </a:r>
            <a:r>
              <a:rPr dirty="0" err="1"/>
              <a:t>esencia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mencioné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endParaRPr dirty="0"/>
          </a:p>
          <a:p>
            <a:r>
              <a:rPr dirty="0"/>
              <a:t>anterior.</a:t>
            </a:r>
          </a:p>
          <a:p>
            <a:r>
              <a:rPr dirty="0"/>
              <a:t>El Supervisor Agent </a:t>
            </a:r>
            <a:r>
              <a:rPr dirty="0" err="1"/>
              <a:t>enruta</a:t>
            </a:r>
            <a:r>
              <a:rPr dirty="0"/>
              <a:t> de forma </a:t>
            </a:r>
            <a:r>
              <a:rPr dirty="0" err="1"/>
              <a:t>determinista</a:t>
            </a:r>
            <a:r>
              <a:rPr dirty="0"/>
              <a:t> —no </a:t>
            </a:r>
            <a:r>
              <a:rPr dirty="0" err="1"/>
              <a:t>probabilística</a:t>
            </a:r>
            <a:r>
              <a:rPr dirty="0"/>
              <a:t>— </a:t>
            </a:r>
            <a:r>
              <a:rPr dirty="0" err="1"/>
              <a:t>hacia</a:t>
            </a:r>
            <a:r>
              <a:rPr dirty="0"/>
              <a:t> uno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agentes</a:t>
            </a:r>
            <a:endParaRPr dirty="0"/>
          </a:p>
          <a:p>
            <a:r>
              <a:rPr dirty="0"/>
              <a:t>de </a:t>
            </a:r>
            <a:r>
              <a:rPr dirty="0" err="1"/>
              <a:t>dominio</a:t>
            </a:r>
            <a:r>
              <a:rPr dirty="0"/>
              <a:t>, y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accede a la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exclusivamente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 la </a:t>
            </a:r>
            <a:r>
              <a:rPr dirty="0" err="1"/>
              <a:t>capa</a:t>
            </a:r>
            <a:r>
              <a:rPr dirty="0"/>
              <a:t> de</a:t>
            </a:r>
          </a:p>
          <a:p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determinista</a:t>
            </a:r>
            <a:r>
              <a:rPr dirty="0"/>
              <a:t>, </a:t>
            </a:r>
            <a:r>
              <a:rPr dirty="0" err="1"/>
              <a:t>nunca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. </a:t>
            </a:r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quiero</a:t>
            </a:r>
            <a:r>
              <a:rPr dirty="0"/>
              <a:t> ser </a:t>
            </a:r>
            <a:r>
              <a:rPr dirty="0" err="1"/>
              <a:t>explícito</a:t>
            </a:r>
            <a:r>
              <a:rPr dirty="0"/>
              <a:t> con algo </a:t>
            </a:r>
            <a:r>
              <a:rPr dirty="0" err="1"/>
              <a:t>importante</a:t>
            </a:r>
            <a:r>
              <a:rPr dirty="0"/>
              <a:t>: el</a:t>
            </a:r>
          </a:p>
          <a:p>
            <a:r>
              <a:rPr dirty="0" err="1"/>
              <a:t>recuadro</a:t>
            </a:r>
            <a:r>
              <a:rPr dirty="0"/>
              <a:t> de Azure Functions y Durable Functions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borde</a:t>
            </a:r>
            <a:r>
              <a:rPr dirty="0"/>
              <a:t> </a:t>
            </a:r>
            <a:r>
              <a:rPr dirty="0" err="1"/>
              <a:t>punteado</a:t>
            </a:r>
            <a:r>
              <a:rPr dirty="0"/>
              <a:t> y dice "</a:t>
            </a:r>
            <a:r>
              <a:rPr dirty="0" err="1"/>
              <a:t>arquitectura</a:t>
            </a:r>
            <a:endParaRPr dirty="0"/>
          </a:p>
          <a:p>
            <a:r>
              <a:rPr dirty="0" err="1"/>
              <a:t>objetivo</a:t>
            </a:r>
            <a:r>
              <a:rPr dirty="0"/>
              <a:t>" </a:t>
            </a:r>
            <a:r>
              <a:rPr dirty="0" err="1"/>
              <a:t>porque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desplegado</a:t>
            </a:r>
            <a:r>
              <a:rPr dirty="0"/>
              <a:t> hoy. La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herramientas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completamente</a:t>
            </a:r>
            <a:endParaRPr dirty="0"/>
          </a:p>
          <a:p>
            <a:r>
              <a:rPr dirty="0" err="1"/>
              <a:t>diseñada</a:t>
            </a:r>
            <a:r>
              <a:rPr dirty="0"/>
              <a:t>, </a:t>
            </a:r>
            <a:r>
              <a:rPr dirty="0" err="1"/>
              <a:t>codificada</a:t>
            </a:r>
            <a:r>
              <a:rPr dirty="0"/>
              <a:t> y </a:t>
            </a:r>
            <a:r>
              <a:rPr dirty="0" err="1"/>
              <a:t>probada</a:t>
            </a:r>
            <a:r>
              <a:rPr dirty="0"/>
              <a:t> para </a:t>
            </a:r>
            <a:r>
              <a:rPr dirty="0" err="1"/>
              <a:t>ejecutarse</a:t>
            </a:r>
            <a:r>
              <a:rPr dirty="0"/>
              <a:t> ahí — </a:t>
            </a:r>
            <a:r>
              <a:rPr dirty="0" err="1"/>
              <a:t>pero</a:t>
            </a:r>
            <a:r>
              <a:rPr dirty="0"/>
              <a:t> el runtime actual, </a:t>
            </a:r>
            <a:r>
              <a:rPr dirty="0" err="1"/>
              <a:t>marcado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verde</a:t>
            </a:r>
            <a:r>
              <a:rPr dirty="0"/>
              <a:t> </a:t>
            </a:r>
            <a:r>
              <a:rPr dirty="0" err="1"/>
              <a:t>sólido</a:t>
            </a:r>
            <a:r>
              <a:rPr dirty="0"/>
              <a:t>,</a:t>
            </a:r>
          </a:p>
          <a:p>
            <a:r>
              <a:rPr dirty="0"/>
              <a:t>es "Tool Provider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proceso</a:t>
            </a:r>
            <a:r>
              <a:rPr dirty="0"/>
              <a:t>": las </a:t>
            </a:r>
            <a:r>
              <a:rPr dirty="0" err="1"/>
              <a:t>mismas</a:t>
            </a:r>
            <a:r>
              <a:rPr dirty="0"/>
              <a:t> </a:t>
            </a:r>
            <a:r>
              <a:rPr dirty="0" err="1"/>
              <a:t>herramientas</a:t>
            </a:r>
            <a:r>
              <a:rPr dirty="0"/>
              <a:t>,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, </a:t>
            </a:r>
            <a:r>
              <a:rPr dirty="0" err="1"/>
              <a:t>ejecutando</a:t>
            </a:r>
            <a:endParaRPr dirty="0"/>
          </a:p>
          <a:p>
            <a:r>
              <a:rPr dirty="0" err="1"/>
              <a:t>dentro</a:t>
            </a:r>
            <a:r>
              <a:rPr dirty="0"/>
              <a:t> del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proceso</a:t>
            </a:r>
            <a:r>
              <a:rPr dirty="0"/>
              <a:t> de la API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lugar</a:t>
            </a:r>
            <a:r>
              <a:rPr dirty="0"/>
              <a:t> de </a:t>
            </a:r>
            <a:r>
              <a:rPr dirty="0" err="1"/>
              <a:t>en</a:t>
            </a:r>
            <a:r>
              <a:rPr dirty="0"/>
              <a:t> un endpoint serverless </a:t>
            </a:r>
            <a:r>
              <a:rPr dirty="0" err="1"/>
              <a:t>separado</a:t>
            </a:r>
            <a:r>
              <a:rPr dirty="0"/>
              <a:t>. Más </a:t>
            </a:r>
            <a:r>
              <a:rPr dirty="0" err="1"/>
              <a:t>adelante</a:t>
            </a:r>
            <a:endParaRPr dirty="0"/>
          </a:p>
          <a:p>
            <a:r>
              <a:rPr dirty="0" err="1"/>
              <a:t>explico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exactamente</a:t>
            </a:r>
            <a:r>
              <a:rPr dirty="0"/>
              <a:t>.</a:t>
            </a:r>
          </a:p>
          <a:p>
            <a:r>
              <a:rPr dirty="0"/>
              <a:t>A la </a:t>
            </a:r>
            <a:r>
              <a:rPr dirty="0" err="1"/>
              <a:t>derecha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de IA y </a:t>
            </a:r>
            <a:r>
              <a:rPr dirty="0" err="1"/>
              <a:t>datos</a:t>
            </a:r>
            <a:r>
              <a:rPr dirty="0"/>
              <a:t>: Azure OpenAI para el </a:t>
            </a:r>
            <a:r>
              <a:rPr dirty="0" err="1"/>
              <a:t>razonamiento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,</a:t>
            </a:r>
          </a:p>
          <a:p>
            <a:r>
              <a:rPr dirty="0"/>
              <a:t>Cosmos DB para el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conversación</a:t>
            </a:r>
            <a:r>
              <a:rPr dirty="0"/>
              <a:t>, y Azure AI Search —</a:t>
            </a:r>
            <a:r>
              <a:rPr dirty="0" err="1"/>
              <a:t>marcado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ámbar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está</a:t>
            </a:r>
            <a:endParaRPr dirty="0"/>
          </a:p>
          <a:p>
            <a:r>
              <a:rPr dirty="0" err="1"/>
              <a:t>provisionado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</a:t>
            </a:r>
            <a:r>
              <a:rPr dirty="0" err="1"/>
              <a:t>aún</a:t>
            </a:r>
            <a:r>
              <a:rPr dirty="0"/>
              <a:t> no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poblado</a:t>
            </a:r>
            <a:r>
              <a:rPr dirty="0"/>
              <a:t>,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profundizo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r>
              <a:rPr dirty="0"/>
              <a:t> de</a:t>
            </a:r>
          </a:p>
          <a:p>
            <a:r>
              <a:rPr dirty="0" err="1"/>
              <a:t>arquitectura</a:t>
            </a:r>
            <a:r>
              <a:rPr dirty="0"/>
              <a:t> del </a:t>
            </a:r>
            <a:r>
              <a:rPr dirty="0" err="1"/>
              <a:t>conocimiento</a:t>
            </a:r>
            <a:r>
              <a:rPr dirty="0"/>
              <a:t>. Abajo,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franja</a:t>
            </a:r>
            <a:r>
              <a:rPr dirty="0"/>
              <a:t> transversal,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de </a:t>
            </a:r>
            <a:r>
              <a:rPr dirty="0" err="1"/>
              <a:t>plataforma</a:t>
            </a:r>
            <a:endParaRPr dirty="0"/>
          </a:p>
          <a:p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pertenecen</a:t>
            </a:r>
            <a:r>
              <a:rPr dirty="0"/>
              <a:t> a un paso </a:t>
            </a:r>
            <a:r>
              <a:rPr dirty="0" err="1"/>
              <a:t>específico</a:t>
            </a:r>
            <a:r>
              <a:rPr dirty="0"/>
              <a:t> del </a:t>
            </a:r>
            <a:r>
              <a:rPr dirty="0" err="1"/>
              <a:t>flujo</a:t>
            </a:r>
            <a:r>
              <a:rPr dirty="0"/>
              <a:t> </a:t>
            </a:r>
            <a:r>
              <a:rPr dirty="0" err="1"/>
              <a:t>sino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sostienen</a:t>
            </a:r>
            <a:r>
              <a:rPr dirty="0"/>
              <a:t> a </a:t>
            </a:r>
            <a:r>
              <a:rPr dirty="0" err="1"/>
              <a:t>todos</a:t>
            </a:r>
            <a:r>
              <a:rPr dirty="0"/>
              <a:t>: Container Apps y</a:t>
            </a:r>
          </a:p>
          <a:p>
            <a:r>
              <a:rPr dirty="0"/>
              <a:t>Container Registry para el </a:t>
            </a:r>
            <a:r>
              <a:rPr dirty="0" err="1"/>
              <a:t>despliegue</a:t>
            </a:r>
            <a:r>
              <a:rPr dirty="0"/>
              <a:t>, Key Vault y Managed Identity para la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secretos</a:t>
            </a:r>
            <a:r>
              <a:rPr dirty="0"/>
              <a:t> e</a:t>
            </a:r>
          </a:p>
          <a:p>
            <a:r>
              <a:rPr dirty="0" err="1"/>
              <a:t>identidad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, y Application Insights junto con Azure Monitor para </a:t>
            </a:r>
            <a:r>
              <a:rPr dirty="0" err="1"/>
              <a:t>observabilidad</a:t>
            </a:r>
            <a:r>
              <a:rPr dirty="0"/>
              <a:t> — </a:t>
            </a:r>
            <a:r>
              <a:rPr dirty="0" err="1"/>
              <a:t>los</a:t>
            </a:r>
            <a:endParaRPr dirty="0"/>
          </a:p>
          <a:p>
            <a:r>
              <a:rPr dirty="0" err="1"/>
              <a:t>detallo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diapositivas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</a:t>
            </a:r>
            <a:r>
              <a:rPr dirty="0" err="1"/>
              <a:t>tabla</a:t>
            </a:r>
            <a:r>
              <a:rPr dirty="0"/>
              <a:t> es, </a:t>
            </a:r>
            <a:r>
              <a:rPr dirty="0" err="1"/>
              <a:t>en</a:t>
            </a:r>
            <a:r>
              <a:rPr dirty="0"/>
              <a:t> mi </a:t>
            </a:r>
            <a:r>
              <a:rPr dirty="0" err="1"/>
              <a:t>opinión</a:t>
            </a:r>
            <a:r>
              <a:rPr dirty="0"/>
              <a:t>, la </a:t>
            </a:r>
            <a:r>
              <a:rPr dirty="0" err="1"/>
              <a:t>diapositiva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para </a:t>
            </a:r>
            <a:r>
              <a:rPr dirty="0" err="1"/>
              <a:t>una</a:t>
            </a:r>
            <a:r>
              <a:rPr dirty="0"/>
              <a:t> defensa de </a:t>
            </a:r>
            <a:r>
              <a:rPr dirty="0" err="1"/>
              <a:t>arquitectura</a:t>
            </a:r>
            <a:r>
              <a:rPr dirty="0"/>
              <a:t>,</a:t>
            </a:r>
          </a:p>
          <a:p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fila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explícitamente</a:t>
            </a:r>
            <a:r>
              <a:rPr dirty="0"/>
              <a:t> "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esto</a:t>
            </a:r>
            <a:r>
              <a:rPr dirty="0"/>
              <a:t> y no lo </a:t>
            </a:r>
            <a:r>
              <a:rPr dirty="0" err="1"/>
              <a:t>otro</a:t>
            </a:r>
            <a:r>
              <a:rPr dirty="0"/>
              <a:t>", </a:t>
            </a:r>
            <a:r>
              <a:rPr dirty="0" err="1"/>
              <a:t>que</a:t>
            </a:r>
            <a:r>
              <a:rPr dirty="0"/>
              <a:t> es la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</a:t>
            </a:r>
          </a:p>
          <a:p>
            <a:r>
              <a:rPr dirty="0" err="1"/>
              <a:t>arquitecto</a:t>
            </a:r>
            <a:r>
              <a:rPr dirty="0"/>
              <a:t> de </a:t>
            </a:r>
            <a:r>
              <a:rPr dirty="0" err="1"/>
              <a:t>soluciones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poder</a:t>
            </a:r>
            <a:r>
              <a:rPr dirty="0"/>
              <a:t> responder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tecnología</a:t>
            </a:r>
            <a:r>
              <a:rPr dirty="0"/>
              <a:t> </a:t>
            </a:r>
            <a:r>
              <a:rPr dirty="0" err="1"/>
              <a:t>incluida</a:t>
            </a:r>
            <a:r>
              <a:rPr dirty="0"/>
              <a:t>.</a:t>
            </a:r>
          </a:p>
          <a:p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detenerme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dos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generan</a:t>
            </a:r>
            <a:r>
              <a:rPr dirty="0"/>
              <a:t> la </a:t>
            </a:r>
            <a:r>
              <a:rPr dirty="0" err="1"/>
              <a:t>mayoría</a:t>
            </a:r>
            <a:r>
              <a:rPr dirty="0"/>
              <a:t> de las </a:t>
            </a:r>
            <a:r>
              <a:rPr dirty="0" err="1"/>
              <a:t>preguntas</a:t>
            </a:r>
            <a:r>
              <a:rPr dirty="0"/>
              <a:t>. Primero,</a:t>
            </a:r>
          </a:p>
          <a:p>
            <a:r>
              <a:rPr dirty="0"/>
              <a:t>gpt-5-mini: no lo </a:t>
            </a:r>
            <a:r>
              <a:rPr dirty="0" err="1"/>
              <a:t>elegí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innecesarios</a:t>
            </a:r>
            <a:r>
              <a:rPr dirty="0"/>
              <a:t> de forma general — </a:t>
            </a:r>
            <a:r>
              <a:rPr dirty="0" err="1"/>
              <a:t>los</a:t>
            </a:r>
            <a:endParaRPr dirty="0"/>
          </a:p>
          <a:p>
            <a:r>
              <a:rPr dirty="0" err="1"/>
              <a:t>elegí</a:t>
            </a:r>
            <a:r>
              <a:rPr dirty="0"/>
              <a:t> </a:t>
            </a:r>
            <a:r>
              <a:rPr dirty="0" err="1"/>
              <a:t>evaluando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tareas</a:t>
            </a:r>
            <a:r>
              <a:rPr dirty="0"/>
              <a:t>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interpreta</a:t>
            </a:r>
            <a:r>
              <a:rPr dirty="0"/>
              <a:t> </a:t>
            </a:r>
            <a:r>
              <a:rPr dirty="0" err="1"/>
              <a:t>lenguaje</a:t>
            </a:r>
            <a:endParaRPr dirty="0"/>
          </a:p>
          <a:p>
            <a:r>
              <a:rPr dirty="0"/>
              <a:t>natural, </a:t>
            </a:r>
            <a:r>
              <a:rPr dirty="0" err="1"/>
              <a:t>mantiene</a:t>
            </a:r>
            <a:r>
              <a:rPr dirty="0"/>
              <a:t> el </a:t>
            </a:r>
            <a:r>
              <a:rPr dirty="0" err="1"/>
              <a:t>hilo</a:t>
            </a:r>
            <a:r>
              <a:rPr dirty="0"/>
              <a:t> de la </a:t>
            </a:r>
            <a:r>
              <a:rPr dirty="0" err="1"/>
              <a:t>conversación</a:t>
            </a:r>
            <a:r>
              <a:rPr dirty="0"/>
              <a:t>, </a:t>
            </a:r>
            <a:r>
              <a:rPr dirty="0" err="1"/>
              <a:t>detecta</a:t>
            </a:r>
            <a:r>
              <a:rPr dirty="0"/>
              <a:t> la </a:t>
            </a:r>
            <a:r>
              <a:rPr dirty="0" err="1"/>
              <a:t>intención</a:t>
            </a:r>
            <a:r>
              <a:rPr dirty="0"/>
              <a:t> del </a:t>
            </a:r>
            <a:r>
              <a:rPr dirty="0" err="1"/>
              <a:t>usuario</a:t>
            </a:r>
            <a:r>
              <a:rPr dirty="0"/>
              <a:t> y decide </a:t>
            </a:r>
            <a:r>
              <a:rPr dirty="0" err="1"/>
              <a:t>qué</a:t>
            </a:r>
            <a:endParaRPr dirty="0"/>
          </a:p>
          <a:p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invocar</a:t>
            </a:r>
            <a:r>
              <a:rPr dirty="0"/>
              <a:t>. No </a:t>
            </a:r>
            <a:r>
              <a:rPr dirty="0" err="1"/>
              <a:t>calcula</a:t>
            </a:r>
            <a:r>
              <a:rPr dirty="0"/>
              <a:t> </a:t>
            </a:r>
            <a:r>
              <a:rPr dirty="0" err="1"/>
              <a:t>primas</a:t>
            </a:r>
            <a:r>
              <a:rPr dirty="0"/>
              <a:t>, no decide </a:t>
            </a:r>
            <a:r>
              <a:rPr dirty="0" err="1"/>
              <a:t>coberturas</a:t>
            </a:r>
            <a:r>
              <a:rPr dirty="0"/>
              <a:t>, no </a:t>
            </a:r>
            <a:r>
              <a:rPr dirty="0" err="1"/>
              <a:t>autoriza</a:t>
            </a:r>
            <a:r>
              <a:rPr dirty="0"/>
              <a:t> </a:t>
            </a:r>
            <a:r>
              <a:rPr dirty="0" err="1"/>
              <a:t>pagos</a:t>
            </a:r>
            <a:r>
              <a:rPr dirty="0"/>
              <a:t> — </a:t>
            </a:r>
            <a:r>
              <a:rPr dirty="0" err="1"/>
              <a:t>eso</a:t>
            </a:r>
            <a:r>
              <a:rPr dirty="0"/>
              <a:t> lo </a:t>
            </a:r>
            <a:r>
              <a:rPr dirty="0" err="1"/>
              <a:t>hace</a:t>
            </a:r>
            <a:endParaRPr dirty="0"/>
          </a:p>
          <a:p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determinista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vimos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diapositiva</a:t>
            </a:r>
            <a:r>
              <a:rPr dirty="0"/>
              <a:t> de </a:t>
            </a:r>
            <a:r>
              <a:rPr dirty="0" err="1"/>
              <a:t>principios</a:t>
            </a:r>
            <a:r>
              <a:rPr dirty="0"/>
              <a:t>. Para ese conjunto de </a:t>
            </a:r>
            <a:r>
              <a:rPr dirty="0" err="1"/>
              <a:t>tareas</a:t>
            </a:r>
            <a:r>
              <a:rPr dirty="0"/>
              <a:t>,</a:t>
            </a:r>
          </a:p>
          <a:p>
            <a:r>
              <a:rPr dirty="0"/>
              <a:t>gpt-5-mini </a:t>
            </a:r>
            <a:r>
              <a:rPr dirty="0" err="1"/>
              <a:t>ofrece</a:t>
            </a:r>
            <a:r>
              <a:rPr dirty="0"/>
              <a:t> el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equilibrio</a:t>
            </a:r>
            <a:r>
              <a:rPr dirty="0"/>
              <a:t> entre </a:t>
            </a:r>
            <a:r>
              <a:rPr dirty="0" err="1"/>
              <a:t>latencia</a:t>
            </a:r>
            <a:r>
              <a:rPr dirty="0"/>
              <a:t> —</a:t>
            </a:r>
            <a:r>
              <a:rPr dirty="0" err="1"/>
              <a:t>crítica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— y</a:t>
            </a:r>
          </a:p>
          <a:p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token, sin </a:t>
            </a:r>
            <a:r>
              <a:rPr dirty="0" err="1"/>
              <a:t>sacrificar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necesaria</a:t>
            </a:r>
            <a:r>
              <a:rPr dirty="0"/>
              <a:t>.</a:t>
            </a:r>
          </a:p>
          <a:p>
            <a:r>
              <a:rPr dirty="0"/>
              <a:t>Segundo, Container Apps </a:t>
            </a:r>
            <a:r>
              <a:rPr dirty="0" err="1"/>
              <a:t>frente</a:t>
            </a:r>
            <a:r>
              <a:rPr dirty="0"/>
              <a:t> a AKS: </a:t>
            </a:r>
            <a:r>
              <a:rPr dirty="0" err="1"/>
              <a:t>esta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de </a:t>
            </a:r>
            <a:r>
              <a:rPr dirty="0" err="1"/>
              <a:t>complejidad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</a:t>
            </a:r>
            <a:r>
              <a:rPr dirty="0" err="1"/>
              <a:t>proporcional</a:t>
            </a:r>
            <a:endParaRPr dirty="0"/>
          </a:p>
          <a:p>
            <a:r>
              <a:rPr dirty="0"/>
              <a:t>al </a:t>
            </a:r>
            <a:r>
              <a:rPr dirty="0" err="1"/>
              <a:t>problema</a:t>
            </a:r>
            <a:r>
              <a:rPr dirty="0"/>
              <a:t>. TMX no </a:t>
            </a:r>
            <a:r>
              <a:rPr dirty="0" err="1"/>
              <a:t>tiene</a:t>
            </a:r>
            <a:r>
              <a:rPr dirty="0"/>
              <a:t> hoy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concurrencia</a:t>
            </a:r>
            <a:r>
              <a:rPr dirty="0"/>
              <a:t> de </a:t>
            </a:r>
            <a:r>
              <a:rPr dirty="0" err="1"/>
              <a:t>usuarios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justifique</a:t>
            </a:r>
            <a:r>
              <a:rPr dirty="0"/>
              <a:t> </a:t>
            </a:r>
            <a:r>
              <a:rPr dirty="0" err="1"/>
              <a:t>operar</a:t>
            </a:r>
            <a:r>
              <a:rPr dirty="0"/>
              <a:t> un </a:t>
            </a:r>
            <a:r>
              <a:rPr dirty="0" err="1"/>
              <a:t>clúster</a:t>
            </a:r>
            <a:r>
              <a:rPr dirty="0"/>
              <a:t> de</a:t>
            </a:r>
          </a:p>
          <a:p>
            <a:r>
              <a:rPr dirty="0"/>
              <a:t>Kubernetes </a:t>
            </a:r>
            <a:r>
              <a:rPr dirty="0" err="1"/>
              <a:t>completo</a:t>
            </a:r>
            <a:r>
              <a:rPr dirty="0"/>
              <a:t> —con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plano de control, sus </a:t>
            </a:r>
            <a:r>
              <a:rPr dirty="0" err="1"/>
              <a:t>políticas</a:t>
            </a:r>
            <a:r>
              <a:rPr dirty="0"/>
              <a:t> de red,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nodos</a:t>
            </a:r>
            <a:r>
              <a:rPr dirty="0"/>
              <a:t>.</a:t>
            </a:r>
          </a:p>
          <a:p>
            <a:r>
              <a:rPr dirty="0"/>
              <a:t>Container Apps da </a:t>
            </a:r>
            <a:r>
              <a:rPr dirty="0" err="1"/>
              <a:t>exactamente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necesita</a:t>
            </a:r>
            <a:r>
              <a:rPr dirty="0"/>
              <a:t> hoy —</a:t>
            </a:r>
            <a:r>
              <a:rPr dirty="0" err="1"/>
              <a:t>contenedores</a:t>
            </a:r>
            <a:r>
              <a:rPr dirty="0"/>
              <a:t> </a:t>
            </a:r>
            <a:r>
              <a:rPr dirty="0" err="1"/>
              <a:t>administrados</a:t>
            </a:r>
            <a:r>
              <a:rPr dirty="0"/>
              <a:t>, </a:t>
            </a:r>
            <a:r>
              <a:rPr dirty="0" err="1"/>
              <a:t>autoescalado</a:t>
            </a:r>
            <a:endParaRPr dirty="0"/>
          </a:p>
          <a:p>
            <a:r>
              <a:rPr dirty="0" err="1"/>
              <a:t>declarativo</a:t>
            </a:r>
            <a:r>
              <a:rPr dirty="0"/>
              <a:t>, </a:t>
            </a:r>
            <a:r>
              <a:rPr dirty="0" err="1"/>
              <a:t>portabilidad</a:t>
            </a:r>
            <a:r>
              <a:rPr dirty="0"/>
              <a:t> Docker— sin ese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.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reversible: </a:t>
            </a:r>
            <a:r>
              <a:rPr dirty="0" err="1"/>
              <a:t>si</a:t>
            </a:r>
            <a:endParaRPr dirty="0"/>
          </a:p>
          <a:p>
            <a:r>
              <a:rPr dirty="0"/>
              <a:t>la carga de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creciera</a:t>
            </a:r>
            <a:r>
              <a:rPr dirty="0"/>
              <a:t> de forma </a:t>
            </a:r>
            <a:r>
              <a:rPr dirty="0" err="1"/>
              <a:t>significativa</a:t>
            </a:r>
            <a:r>
              <a:rPr dirty="0"/>
              <a:t>, </a:t>
            </a:r>
            <a:r>
              <a:rPr dirty="0" err="1"/>
              <a:t>migrar</a:t>
            </a:r>
            <a:r>
              <a:rPr dirty="0"/>
              <a:t> a AKS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natural, no </a:t>
            </a:r>
            <a:r>
              <a:rPr dirty="0" err="1"/>
              <a:t>una</a:t>
            </a:r>
            <a:endParaRPr dirty="0"/>
          </a:p>
          <a:p>
            <a:r>
              <a:rPr dirty="0" err="1"/>
              <a:t>reescritura</a:t>
            </a:r>
            <a:r>
              <a:rPr dirty="0"/>
              <a:t>, </a:t>
            </a:r>
            <a:r>
              <a:rPr dirty="0" err="1"/>
              <a:t>porque</a:t>
            </a:r>
            <a:r>
              <a:rPr dirty="0"/>
              <a:t> ambos </a:t>
            </a:r>
            <a:r>
              <a:rPr dirty="0" err="1"/>
              <a:t>parten</a:t>
            </a:r>
            <a:r>
              <a:rPr dirty="0"/>
              <a:t> del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artefacto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imagen Docker.</a:t>
            </a:r>
          </a:p>
          <a:p>
            <a:r>
              <a:rPr dirty="0"/>
              <a:t>Las </a:t>
            </a:r>
            <a:r>
              <a:rPr dirty="0" err="1"/>
              <a:t>demás</a:t>
            </a:r>
            <a:r>
              <a:rPr dirty="0"/>
              <a:t> </a:t>
            </a:r>
            <a:r>
              <a:rPr dirty="0" err="1"/>
              <a:t>filas</a:t>
            </a:r>
            <a:r>
              <a:rPr dirty="0"/>
              <a:t> de la </a:t>
            </a:r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patrón</a:t>
            </a:r>
            <a:r>
              <a:rPr dirty="0"/>
              <a:t> de </a:t>
            </a:r>
            <a:r>
              <a:rPr dirty="0" err="1"/>
              <a:t>razonamiento</a:t>
            </a:r>
            <a:r>
              <a:rPr dirty="0"/>
              <a:t>: Cosmos DB </a:t>
            </a:r>
            <a:r>
              <a:rPr dirty="0" err="1"/>
              <a:t>porque</a:t>
            </a:r>
            <a:r>
              <a:rPr dirty="0"/>
              <a:t> el </a:t>
            </a:r>
            <a:r>
              <a:rPr dirty="0" err="1"/>
              <a:t>dato</a:t>
            </a:r>
            <a:r>
              <a:rPr dirty="0"/>
              <a:t> es</a:t>
            </a:r>
          </a:p>
          <a:p>
            <a:r>
              <a:rPr dirty="0" err="1"/>
              <a:t>naturalmente</a:t>
            </a:r>
            <a:r>
              <a:rPr dirty="0"/>
              <a:t> un </a:t>
            </a:r>
            <a:r>
              <a:rPr dirty="0" err="1"/>
              <a:t>documento</a:t>
            </a:r>
            <a:r>
              <a:rPr dirty="0"/>
              <a:t>, Entra ID </a:t>
            </a:r>
            <a:r>
              <a:rPr dirty="0" err="1"/>
              <a:t>porque</a:t>
            </a:r>
            <a:r>
              <a:rPr dirty="0"/>
              <a:t> 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</a:t>
            </a:r>
            <a:r>
              <a:rPr dirty="0" err="1"/>
              <a:t>reinventar</a:t>
            </a:r>
            <a:r>
              <a:rPr dirty="0"/>
              <a:t> </a:t>
            </a:r>
            <a:r>
              <a:rPr dirty="0" err="1"/>
              <a:t>autenticación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existe</a:t>
            </a:r>
            <a:endParaRPr dirty="0"/>
          </a:p>
          <a:p>
            <a:r>
              <a:rPr dirty="0"/>
              <a:t>un </a:t>
            </a:r>
            <a:r>
              <a:rPr dirty="0" err="1"/>
              <a:t>estándar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</a:t>
            </a:r>
            <a:r>
              <a:rPr dirty="0" err="1"/>
              <a:t>auditado</a:t>
            </a:r>
            <a:r>
              <a:rPr dirty="0"/>
              <a:t>, Tool Calling </a:t>
            </a:r>
            <a:r>
              <a:rPr dirty="0" err="1"/>
              <a:t>determinista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la </a:t>
            </a:r>
            <a:r>
              <a:rPr dirty="0" err="1"/>
              <a:t>auditabilidad</a:t>
            </a:r>
            <a:r>
              <a:rPr dirty="0"/>
              <a:t> de las</a:t>
            </a:r>
          </a:p>
          <a:p>
            <a:r>
              <a:rPr dirty="0" err="1"/>
              <a:t>acciones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no es </a:t>
            </a:r>
            <a:r>
              <a:rPr dirty="0" err="1"/>
              <a:t>negociable</a:t>
            </a:r>
            <a:r>
              <a:rPr dirty="0"/>
              <a:t>, Azure AI Search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cita</a:t>
            </a:r>
            <a:r>
              <a:rPr dirty="0"/>
              <a:t> </a:t>
            </a:r>
            <a:r>
              <a:rPr dirty="0" err="1"/>
              <a:t>verificable</a:t>
            </a:r>
            <a:r>
              <a:rPr dirty="0"/>
              <a:t> vale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</a:t>
            </a:r>
          </a:p>
          <a:p>
            <a:r>
              <a:rPr dirty="0"/>
              <a:t>memoria </a:t>
            </a:r>
            <a:r>
              <a:rPr dirty="0" err="1"/>
              <a:t>implícita</a:t>
            </a:r>
            <a:r>
              <a:rPr dirty="0"/>
              <a:t> de un </a:t>
            </a:r>
            <a:r>
              <a:rPr dirty="0" err="1"/>
              <a:t>modelo</a:t>
            </a:r>
            <a:r>
              <a:rPr dirty="0"/>
              <a:t>, y Key Vault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secreto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vivir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Todos estos controles responden a la misma pregunta de diseño: ¿en qué punto del sistema confiamos</a:t>
            </a:r>
          </a:p>
          <a:p>
            <a:r>
              <a:t>y por qué? La respuesta arquitectónica es: se confía únicamente en un token validado en el borde</a:t>
            </a:r>
          </a:p>
          <a:p>
            <a:r>
              <a:t>del sistema, y en nada más.</a:t>
            </a:r>
          </a:p>
          <a:p>
            <a:r>
              <a:t>Entra ID reemplaza cualquier necesidad de mantener una base de usuarios y contraseñas propia — es</a:t>
            </a:r>
          </a:p>
          <a:p>
            <a:r>
              <a:t>una decisión de reducir superficie de riesgo, no solo de conveniencia. PKCE existe porque esta es</a:t>
            </a:r>
          </a:p>
          <a:p>
            <a:r>
              <a:t>una aplicación de página única: no puede guardar un secreto de cliente de forma segura en el</a:t>
            </a:r>
          </a:p>
          <a:p>
            <a:r>
              <a:t>navegador, así que el flujo de autorización usa un desafío criptográfico generado localmente en</a:t>
            </a:r>
          </a:p>
          <a:p>
            <a:r>
              <a:t>lugar de un secreto estático. La validación JWT completa —firma, expiración, audiencia y emisor— es</a:t>
            </a:r>
          </a:p>
          <a:p>
            <a:r>
              <a:t>lo que separa "el cliente envió un token" de "el cliente envió un token válido para este sistema</a:t>
            </a:r>
          </a:p>
          <a:p>
            <a:r>
              <a:t>específico, todavía vigente, con una firma auténtica": son verificaciones independientes, y las</a:t>
            </a:r>
          </a:p>
          <a:p>
            <a:r>
              <a:t>cuatro son necesarias.</a:t>
            </a:r>
          </a:p>
          <a:p>
            <a:r>
              <a:t>La mitigación de IDOR merece mención especial porque fue el hallazgo más importante de todo el</a:t>
            </a:r>
          </a:p>
          <a:p>
            <a:r>
              <a:t>proceso de revisión de arquitectura de este proyecto: antes de esta implementación, el identificador</a:t>
            </a:r>
          </a:p>
          <a:p>
            <a:r>
              <a:t>de usuario lo enviaba el propio cliente, lo que en principio permitía a un usuario leer las</a:t>
            </a:r>
          </a:p>
          <a:p>
            <a:r>
              <a:t>conversaciones de otro si suponía o adivinaba su identificador. La corrección no fue solo agregar</a:t>
            </a:r>
          </a:p>
          <a:p>
            <a:r>
              <a:t>autenticación —fue eliminar por completo la posibilidad de que la identidad provenga de un valor</a:t>
            </a:r>
          </a:p>
          <a:p>
            <a:r>
              <a:t>enviado por el cliente. Y finalmente, Key Vault y Managed Identity resuelven el mismo problema desde</a:t>
            </a:r>
          </a:p>
          <a:p>
            <a:r>
              <a:t>el lado de los servicios: ningún servicio de Azure se autentica con una clave que alguien tuvo que</a:t>
            </a:r>
          </a:p>
          <a:p>
            <a:r>
              <a:t>copiar y pegar en una variable de entorno — la identidad administrada elimina esa credencial por</a:t>
            </a:r>
          </a:p>
          <a:p>
            <a:r>
              <a:t>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Quiero ser particularmente honesto en esta diapositiva, porque es fácil listar capacidades de</a:t>
            </a:r>
          </a:p>
          <a:p>
            <a:r>
              <a:t>observabilidad como si todas estuvieran igualmente maduras, y no es el caso.</a:t>
            </a:r>
          </a:p>
          <a:p>
            <a:r>
              <a:t>Lo que sí puedo afirmar con evidencia: cada solicitud genera un identificador de correlación que se</a:t>
            </a:r>
          </a:p>
          <a:p>
            <a:r>
              <a:t>propaga a través de todo el sistema —Supervisor, Agente, herramienta— y aparece en cada línea de log</a:t>
            </a:r>
          </a:p>
          <a:p>
            <a:r>
              <a:t>estructurado en formato JSON. Verifiqué esto directamente durante el desarrollo: es real y</a:t>
            </a:r>
          </a:p>
          <a:p>
            <a:r>
              <a:t>funciona. Existen también tres alertas activas de Azure Monitor sobre tasa de error, latencia y</a:t>
            </a:r>
          </a:p>
          <a:p>
            <a:r>
              <a:t>disponibilidad, confirmadas contra los nombres de métrica reales del recurso desplegado, no</a:t>
            </a:r>
          </a:p>
          <a:p>
            <a:r>
              <a:t>inventadas.</a:t>
            </a:r>
          </a:p>
          <a:p>
            <a:r>
              <a:t>Pero hay una diferencia importante entre "la instrumentación existe y funciona" y "la</a:t>
            </a:r>
          </a:p>
          <a:p>
            <a:r>
              <a:t>instrumentación fue probada bajo las condiciones para las que existe". Este proyecto académico</a:t>
            </a:r>
          </a:p>
          <a:p>
            <a:r>
              <a:t>nunca enfrentó un incidente real de producción, ni un volumen de tráfico que estresara realmente el</a:t>
            </a:r>
          </a:p>
          <a:p>
            <a:r>
              <a:t>sistema de alertas. El valor real de Application Insights, por ejemplo, aparece cuando hay que</a:t>
            </a:r>
          </a:p>
          <a:p>
            <a:r>
              <a:t>diagnosticar por qué el percentil 95 de latencia subió la semana pasada con tráfico real — algo que</a:t>
            </a:r>
          </a:p>
          <a:p>
            <a:r>
              <a:t>este proyecto no ha tenido oportunidad de ejercitar. Por eso separé explícitamente, en cada fila</a:t>
            </a:r>
          </a:p>
          <a:p>
            <a:r>
              <a:t>de la tabla, "qué validé" de "qué propósito cumple en producción": son afirmaciones distintas y</a:t>
            </a:r>
          </a:p>
          <a:p>
            <a:r>
              <a:t>quiero que quedé claro cuál estoy haciendo en cada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existe porque quiero anticipar la pregunta obvia: si Azure AI Search aparece en la</a:t>
            </a:r>
          </a:p>
          <a:p>
            <a:r>
              <a:t>arquitectura, ¿por qué no está haciendo búsqueda real hoy? La respuesta arquitectónica es</a:t>
            </a:r>
          </a:p>
          <a:p>
            <a:r>
              <a:t>deliberada, no un descuido.</a:t>
            </a:r>
          </a:p>
          <a:p>
            <a:r>
              <a:t>RAG —Retrieval-Augmented Generation— es el patrón que hace que una respuesta del asistente esté</a:t>
            </a:r>
          </a:p>
          <a:p>
            <a:r>
              <a:t>fundamentada en un documento real y citable, en lugar de depender únicamente de lo que el modelo</a:t>
            </a:r>
          </a:p>
          <a:p>
            <a:r>
              <a:t>aprendió durante su entrenamiento. Eso importa muchísimo en un dominio regulado como seguros, donde</a:t>
            </a:r>
          </a:p>
          <a:p>
            <a:r>
              <a:t>una respuesta incorrecta sobre cobertura tiene consecuencias reales. Elegí Azure AI Search como</a:t>
            </a:r>
          </a:p>
          <a:p>
            <a:r>
              <a:t>motor de recuperación por su integración nativa con el resto de la plataforma y porque soporta</a:t>
            </a:r>
          </a:p>
          <a:p>
            <a:r>
              <a:t>búsqueda híbrida —combinando texto y búsqueda vectorial por significado—, no solo coincidencia de</a:t>
            </a:r>
          </a:p>
          <a:p>
            <a:r>
              <a:t>palabras clave.</a:t>
            </a:r>
          </a:p>
          <a:p>
            <a:r>
              <a:t>Ahora, el estado actual: el servicio está provisionado en Azure, pero su índice todavía no está</a:t>
            </a:r>
          </a:p>
          <a:p>
            <a:r>
              <a:t>poblado —no existe aún un pipeline de ingestión de documentos reales ejecutado. Por eso el</a:t>
            </a:r>
          </a:p>
          <a:p>
            <a:r>
              <a:t>proveedor de conocimiento activo hoy es una versión local, con documentos sintéticos versionados</a:t>
            </a:r>
          </a:p>
          <a:p>
            <a:r>
              <a:t>directamente en el repositorio. No es una limitación de la arquitectura, es una limitación de</a:t>
            </a:r>
          </a:p>
          <a:p>
            <a:r>
              <a:t>alcance del proyecto académico: no había pólizas, manuales de suscripción ni procedimientos reales</a:t>
            </a:r>
          </a:p>
          <a:p>
            <a:r>
              <a:t>que indexar. En un escenario de producción, ese mismo componente —sin cambios de código, solo</a:t>
            </a:r>
          </a:p>
          <a:p>
            <a:r>
              <a:t>cambiando la configuración del proveedor— indexaría pólizas reales, manuales de suscripción,</a:t>
            </a:r>
          </a:p>
          <a:p>
            <a:r>
              <a:t>procedimientos de siniestros y documentación corporativa vigente. La interfaz ya existe; lo que</a:t>
            </a:r>
          </a:p>
          <a:p>
            <a:r>
              <a:t>falta es el contenido real y su gobierno de acceso.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pipeline de CI/CD tiene seis etapas encadenadas: calidad de código, puertas de calidad y</a:t>
            </a:r>
          </a:p>
          <a:p>
            <a:r>
              <a:t>seguridad, construcción de la imagen Docker, validación de infraestructura como código con Bicep,</a:t>
            </a:r>
          </a:p>
          <a:p>
            <a:r>
              <a:t>despliegue al entorno DEV, y finalmente smoke tests automáticos contra el sistema real ya</a:t>
            </a:r>
          </a:p>
          <a:p>
            <a:r>
              <a:t>desplegado. El principio de diseño aquí es simple: ninguna etapa avanza si la anterior falla —no</a:t>
            </a:r>
          </a:p>
          <a:p>
            <a:r>
              <a:t>hay manera de que un cambio con pruebas rotas o una vulnerabilidad de seguridad conocida llegue a</a:t>
            </a:r>
          </a:p>
          <a:p>
            <a:r>
              <a:t>desplegarse.</a:t>
            </a:r>
          </a:p>
          <a:p>
            <a:r>
              <a:t>Ahora quiero hablar directamente del punto que un evaluador de arquitectura seguramente va a</a:t>
            </a:r>
          </a:p>
          <a:p>
            <a:r>
              <a:t>cuestionar: ¿por qué Azure Functions, que aparece marcado como parte de la arquitectura, no está</a:t>
            </a:r>
          </a:p>
          <a:p>
            <a:r>
              <a:t>desplegado? La respuesta honesta es una restricción externa de la suscripción: la suscripción de</a:t>
            </a:r>
          </a:p>
          <a:p>
            <a:r>
              <a:t>Azure usada para este proyecto tiene cuota cero para el espacio de nombres Microsoft.Web, que es</a:t>
            </a:r>
          </a:p>
          <a:p>
            <a:r>
              <a:t>donde vive Azure Functions. No fue un solo intento fallido — fueron múltiples intentos reales de</a:t>
            </a:r>
          </a:p>
          <a:p>
            <a:r>
              <a:t>despliegue, probando distintos SKU de plan de hosting, y los cuatro fallaron exactamente por la</a:t>
            </a:r>
          </a:p>
          <a:p>
            <a:r>
              <a:t>misma razón de cuota. Esto está documentado en el ADR correspondiente con la evidencia completa de</a:t>
            </a:r>
          </a:p>
          <a:p>
            <a:r>
              <a:t>cada intento.</a:t>
            </a:r>
          </a:p>
          <a:p>
            <a:r>
              <a:t>Lo que quiero que quede claro es la distinción entre una limitación de arquitectura y una</a:t>
            </a:r>
          </a:p>
          <a:p>
            <a:r>
              <a:t>limitación de entorno: el código de Azure Functions existe, está probado, y la infraestructura como</a:t>
            </a:r>
          </a:p>
          <a:p>
            <a:r>
              <a:t>código para desplegarlo también existe y fue validada — lo único que falta es la cuota de la</a:t>
            </a:r>
          </a:p>
          <a:p>
            <a:r>
              <a:t>suscripción para materializarlo. Por eso el sistema hoy corre con el mismo conjunto de</a:t>
            </a:r>
          </a:p>
          <a:p>
            <a:r>
              <a:t>herramientas determinista, pero en un runtime distinto: dentro del propio proceso de la API en</a:t>
            </a:r>
          </a:p>
          <a:p>
            <a:r>
              <a:t>lugar de en un endpoint serverless separado. La abstracción que permitió esto — que ya mencioné en</a:t>
            </a:r>
          </a:p>
          <a:p>
            <a:r>
              <a:t>la diapositiva de principios — es lo que hace que cambiar de runtime, el día que haya cuota</a:t>
            </a:r>
          </a:p>
          <a:p>
            <a:r>
              <a:t>disponible, sea un cambio de configuración y no una reescritura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resume la evidencia de madurez del proyecto, y quiero presentarla con el mismo</a:t>
            </a:r>
          </a:p>
          <a:p>
            <a:r>
              <a:t>espíritu de honestidad que el resto de la defensa: no es un listado de logros sin contexto, es una</a:t>
            </a:r>
          </a:p>
          <a:p>
            <a:r>
              <a:t>medición con su propia metodología explícita.</a:t>
            </a:r>
          </a:p>
          <a:p>
            <a:r>
              <a:t>El hallazgo más importante de todo el proceso de revisión de arquitectura fue la ausencia de</a:t>
            </a:r>
          </a:p>
          <a:p>
            <a:r>
              <a:t>autenticación —era, con evidencia, el único bloqueador que impediría considerar este sistema para</a:t>
            </a:r>
          </a:p>
          <a:p>
            <a:r>
              <a:t>un piloto con usuarios reales. Una vez implementada Microsoft Entra ID de extremo a extremo, ese</a:t>
            </a:r>
          </a:p>
          <a:p>
            <a:r>
              <a:t>hallazgo y su consecuencia directa —el IDOR en el historial de conversaciones— quedaron resueltos,</a:t>
            </a:r>
          </a:p>
          <a:p>
            <a:r>
              <a:t>y no solo diseñados: hay pruebas de regresión dedicadas que simulan dos identidades distintas e</a:t>
            </a:r>
          </a:p>
          <a:p>
            <a:r>
              <a:t>intentan, deliberadamente, que una lea la conversación de la otra. La prueba falla en conseguirlo,</a:t>
            </a:r>
          </a:p>
          <a:p>
            <a:r>
              <a:t>que es exactamente el resultado esperado.</a:t>
            </a:r>
          </a:p>
          <a:p>
            <a:r>
              <a:t>Sobre el puntaje de madurez: notén que bajó de 3.8 a 3.5 entre dos evaluaciones consecutivas, y</a:t>
            </a:r>
          </a:p>
          <a:p>
            <a:r>
              <a:t>quiero explicar por qué eso no es un retroceso. La segunda evaluación aplicó una metodología más</a:t>
            </a:r>
          </a:p>
          <a:p>
            <a:r>
              <a:t>estricta, separando cinco dimensiones —escalabilidad, DevOps, arquitectura de IA, orquestación</a:t>
            </a:r>
          </a:p>
          <a:p>
            <a:r>
              <a:t>multiagente y madurez empresarial— que la primera evaluación había agrupado en categorías más</a:t>
            </a:r>
          </a:p>
          <a:p>
            <a:r>
              <a:t>amplias. La dimensión de seguridad en sí se mantuvo idéntica en ambas evaluaciones. Es un ejemplo</a:t>
            </a:r>
          </a:p>
          <a:p>
            <a:r>
              <a:t>concreto de cómo una medición más rigurosa puede producir un número menor sin que el sistema</a:t>
            </a:r>
          </a:p>
          <a:p>
            <a:r>
              <a:t>subyacente haya empeorado — y prefiero mostrar esa honestidad metodológica a maquillar el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no es una lista de deseos genérica — cada punto corresponde a un hallazgo</a:t>
            </a:r>
          </a:p>
          <a:p>
            <a:r>
              <a:t>específico, identificado y documentado durante el propio proceso de revisión de arquitectura del</a:t>
            </a:r>
          </a:p>
          <a:p>
            <a:r>
              <a:t>proyecto, no algo que se me ocurrió al final.</a:t>
            </a:r>
          </a:p>
          <a:p>
            <a:r>
              <a:t>Los primeros tres puntos son continuaciones directas de decisiones que ya expliqué: habilitar Azure</a:t>
            </a:r>
          </a:p>
          <a:p>
            <a:r>
              <a:t>Functions en cuanto exista cuota, conectar con sistemas reales en lugar de datos sintéticos, y</a:t>
            </a:r>
          </a:p>
          <a:p>
            <a:r>
              <a:t>poblar el índice de Azure AI Search con contenido real. Ninguno de los tres requiere rediseñar la</a:t>
            </a:r>
          </a:p>
          <a:p>
            <a:r>
              <a:t>arquitectura — son activaciones de capacidades que ya existen en el diseño.</a:t>
            </a:r>
          </a:p>
          <a:p>
            <a:r>
              <a:t>Quiero detenerme en el punto de aprobación humana por confianza, porque es el hallazgo más</a:t>
            </a:r>
          </a:p>
          <a:p>
            <a:r>
              <a:t>interesante desde el punto de vista arquitectónico: el diseño original de este sistema nombraba</a:t>
            </a:r>
          </a:p>
          <a:p>
            <a:r>
              <a:t>explícitamente un mecanismo de escalamiento humano cuando la confianza en la intención detectada</a:t>
            </a:r>
          </a:p>
          <a:p>
            <a:r>
              <a:t>fuera baja —apropiado para un dominio como seguros, donde una decisión ambigua no debería</a:t>
            </a:r>
          </a:p>
          <a:p>
            <a:r>
              <a:t>resolverse solo automáticamente. Al revisar el código en profundidad durante la evaluación final de</a:t>
            </a:r>
          </a:p>
          <a:p>
            <a:r>
              <a:t>arquitectura, encontré que ese mecanismo nunca se implementó: la confianza es hoy un valor binario,</a:t>
            </a:r>
          </a:p>
          <a:p>
            <a:r>
              <a:t>uno o cero, sin un umbral real ni una ruta de escalamiento. Es una brecha real entre lo documentado</a:t>
            </a:r>
          </a:p>
          <a:p>
            <a:r>
              <a:t>y lo construido, y prefiero mostrarla explícitamente en esta diapositiva que dejarla oculta.</a:t>
            </a:r>
          </a:p>
          <a:p>
            <a:r>
              <a:t>Los últimos puntos —Private Endpoints, autoescalado real y endurecimiento de producción— son</a:t>
            </a:r>
          </a:p>
          <a:p>
            <a:r>
              <a:t>decisiones ya tomadas y documentadas de diferir ciertas capacidades en el entorno de desarrollo por</a:t>
            </a:r>
          </a:p>
          <a:p>
            <a:r>
              <a:t>una razón explícita de costo, no un olvido. Cada una tiene su propio registro de decisión</a:t>
            </a:r>
          </a:p>
          <a:p>
            <a:r>
              <a:t>arquitectónica indicando exactamente qué se necesitaría para activarla.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cerrar, quiero volver a la pregunta con la que empecé esta defensa: no solo qué se construyó,</a:t>
            </a:r>
          </a:p>
          <a:p>
            <a:r>
              <a:t>sino por qué se construyó así.</a:t>
            </a:r>
          </a:p>
          <a:p>
            <a:r>
              <a:t>Lo que se logró es concreto y verificable: una arquitectura multiagente que funciona, con</a:t>
            </a:r>
          </a:p>
          <a:p>
            <a:r>
              <a:t>autenticación empresarial completa y su hallazgo más crítico —el aislamiento de datos entre</a:t>
            </a:r>
          </a:p>
          <a:p>
            <a:r>
              <a:t>usuarios— resuelto y comprobado con pruebas, no solo diseñado. Pero lo que quiero que quede como</a:t>
            </a:r>
          </a:p>
          <a:p>
            <a:r>
              <a:t>idea central de esta defensa es que cada decisión de arquitectura que presenté —el modelo de</a:t>
            </a:r>
          </a:p>
          <a:p>
            <a:r>
              <a:t>lenguaje, el cómputo, la base de datos, la identidad— respondió a una restricción real del</a:t>
            </a:r>
          </a:p>
          <a:p>
            <a:r>
              <a:t>problema: latencia y costo para el modelo, complejidad operativa proporcional para el cómputo, la</a:t>
            </a:r>
          </a:p>
          <a:p>
            <a:r>
              <a:t>forma natural del dato para la base de datos. Ninguna fue una preferencia tecnológica sin</a:t>
            </a:r>
          </a:p>
          <a:p>
            <a:r>
              <a:t>justificación.</a:t>
            </a:r>
          </a:p>
          <a:p>
            <a:r>
              <a:t>El acoplamiento débil mediante interfaces —el principio que mencioné al inicio— es lo que hizo</a:t>
            </a:r>
          </a:p>
          <a:p>
            <a:r>
              <a:t>posible incorporar autenticación empresarial completa, y diseñar la capa serverless, sin reescribir</a:t>
            </a:r>
          </a:p>
          <a:p>
            <a:r>
              <a:t>la lógica de negocio existente en ningún momento. Y las limitaciones que mostré sin ocultar —la</a:t>
            </a:r>
          </a:p>
          <a:p>
            <a:r>
              <a:t>cuota de Azure Functions, el escalamiento humano no implementado, el índice de búsqueda vacío— no</a:t>
            </a:r>
          </a:p>
          <a:p>
            <a:r>
              <a:t>son fallas de la arquitectura: son exactamente el tipo de brecha entre diseño e implementación que</a:t>
            </a:r>
          </a:p>
          <a:p>
            <a:r>
              <a:t>un proceso de revisión de arquitectura serio debe encontrar y documentar, en lugar de dejar oculta</a:t>
            </a:r>
          </a:p>
          <a:p>
            <a:r>
              <a:t>hasta que aparezca en producción.</a:t>
            </a:r>
          </a:p>
          <a:p>
            <a:r>
              <a:t>Con eso, quedo abierto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4160520"/>
            <a:ext cx="12191695" cy="269748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14400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9FC1E0"/>
                </a:solidFill>
                <a:latin typeface="Calibri"/>
              </a:rPr>
              <a:t>PROYECTO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515600" cy="1737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TMX Enterprise AI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Multi-Agent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875520" cy="28212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dirty="0">
                <a:solidFill>
                  <a:srgbClr val="C9D8E8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ALUMNO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J. 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Miguel Mar</a:t>
            </a: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í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CURSO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dirty="0">
                <a:solidFill>
                  <a:srgbClr val="FFFFFF"/>
                </a:solidFill>
                <a:latin typeface="Calibri"/>
              </a:rPr>
              <a:t>Diseño de Arq. Escalables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504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800600"/>
            <a:ext cx="2560320" cy="3129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1700" b="1" i="0" dirty="0">
                <a:solidFill>
                  <a:srgbClr val="FFFFFF"/>
                </a:solidFill>
                <a:latin typeface="Calibri"/>
              </a:rPr>
              <a:t>Andrés Rojas</a:t>
            </a:r>
            <a:endParaRPr sz="17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41080" y="4526280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FC1E0"/>
                </a:solidFill>
                <a:latin typeface="Calibri"/>
              </a:rPr>
              <a:t>FECHA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25603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2026-08-11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FC1E0"/>
                </a:solidFill>
                <a:latin typeface="Calibri"/>
              </a:rPr>
              <a:t>Implementación de referencia académica — no representa una arquitectura de producción oficialmente aprobada (datos y APIs de negocio sintéticos).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POR QUÉ ESTE PROYECTO EXISTE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MX" sz="2500" b="1" i="0" dirty="0">
                <a:solidFill>
                  <a:srgbClr val="FFFFFF"/>
                </a:solidFill>
                <a:latin typeface="Calibri"/>
              </a:rPr>
              <a:t>CASO DE USO</a:t>
            </a:r>
            <a:endParaRPr sz="2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7C86"/>
                </a:solidFill>
                <a:latin typeface="Calibri"/>
              </a:rPr>
              <a:t>¿Por qué los procesos tradicionales de seguros están fragmentados?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Cada proceso — siniestros, servicios a corredores, nuevos negocios — creció históricamente como un sistema y un canal independiente, optimizado para su propia operación.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Esa especialización interna es razonable desde cada área, pero le traslada al usuario la carga de saber dónde y cómo pedir cada cosa.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No existe hoy una capa que unifique la experiencia sin forzar a fusionar los sistemas de negocio subyacentes — fusionarlos sería costoso y arriesgado.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7C86"/>
                </a:solidFill>
                <a:latin typeface="Calibri"/>
              </a:rPr>
              <a:t>¿Por qué una arquitectura multiagente resuelve esto?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Un agente por dominio preserva la especialización interna — no hay que unificar sistemas.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42640"/>
                </a:solidFill>
                <a:latin typeface="Calibri"/>
              </a:rPr>
              <a:t>▪  Un supervisor común ofrece una experiencia única hacia afuera, sin que el usuario perciba la fragmentación interna.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1208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10607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A5F"/>
                </a:solidFill>
                <a:latin typeface="Calibri"/>
              </a:rPr>
              <a:t>OBJETIVO DE NEGOCIO Y BENEFICIO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60704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55555"/>
                </a:solidFill>
                <a:latin typeface="Calibri"/>
              </a:rPr>
              <a:t>Reducir la fricción del usuario a un solo punto de contacto conversacional, sin exigir que conozca la estructura interna de la organización — mejorando la experiencia sin rediseñar los sistemas de negocio existentes.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LOS PRINCIPIOS QUE GOBIERNAN CADA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Principios Arquitectónicos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API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Toda capacidad se expone como contrato HTTP versionado — el frontend, un futuro canal móvil o un sistema externo consumen el mismo contrato, nunca lógica interna.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Separación de dominios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Claims, Broker y Commercial Intake no comparten código entre sí — un cambio en un dominio no arriesga romper otro.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1887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133502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Tool Calling determinista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7452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El modelo de lenguaje nunca ejecuta una acción de negocio directamente — solo puede solicitarla; una capa determinista valida y ejecuta.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Acoplamiento débil (Protocols)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Cada dependencia externa — LLM, almacenamiento, herramientas — se consume a través de una interfaz, nunca de una implementación concreta.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Seguridad por diseño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La identidad se valida en el primer punto de entrada, no se asume en capas internas — ningún componente interno confía ciegamente en el anterior.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361188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3758184"/>
            <a:ext cx="3291840" cy="5029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E7C86"/>
                </a:solidFill>
                <a:latin typeface="Calibri"/>
              </a:rPr>
              <a:t>Cloud Native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297680"/>
            <a:ext cx="3291840" cy="1463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30" b="0" i="0">
                <a:solidFill>
                  <a:srgbClr val="142640"/>
                </a:solidFill>
                <a:latin typeface="Calibri"/>
              </a:rPr>
              <a:t>Contenedores, identidad administrada y servicios administrados de Azure, sin estado ni infraestructura que el equipo deba operar manualmente.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3596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LA PIEZA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 err="1">
                <a:solidFill>
                  <a:srgbClr val="FFFFFF"/>
                </a:solidFill>
                <a:latin typeface="Calibri"/>
              </a:rPr>
              <a:t>Arquitectura</a:t>
            </a:r>
            <a:r>
              <a:rPr sz="2500" b="1" i="0" dirty="0">
                <a:solidFill>
                  <a:srgbClr val="FFFFFF"/>
                </a:solidFill>
                <a:latin typeface="Calibri"/>
              </a:rPr>
              <a:t>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366760" y="987552"/>
            <a:ext cx="256032" cy="128016"/>
          </a:xfrm>
          <a:prstGeom prst="rect">
            <a:avLst/>
          </a:prstGeom>
          <a:solidFill>
            <a:srgbClr val="1E8A4C"/>
          </a:solidFill>
          <a:ln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95944" y="932688"/>
            <a:ext cx="29260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555"/>
                </a:solidFill>
                <a:latin typeface="Calibri"/>
              </a:rPr>
              <a:t>Implementación actual en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188720"/>
            <a:ext cx="256032" cy="128016"/>
          </a:xfrm>
          <a:prstGeom prst="rect">
            <a:avLst/>
          </a:prstGeom>
          <a:noFill/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95944" y="1133856"/>
            <a:ext cx="292608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55555"/>
                </a:solidFill>
                <a:latin typeface="Calibri"/>
              </a:rPr>
              <a:t>Arquitectura objetivo (futuro)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52728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Usuario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252728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50" b="1">
                <a:solidFill>
                  <a:srgbClr val="142640"/>
                </a:solidFill>
                <a:latin typeface="Calibri"/>
              </a:rPr>
              <a:t>React SPA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252728"/>
            <a:ext cx="16916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1E8A4C"/>
                </a:solidFill>
                <a:latin typeface="Calibri"/>
              </a:rPr>
              <a:t>Microsoft
Entra 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1481328"/>
            <a:ext cx="45720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1481328"/>
            <a:ext cx="475488" cy="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10712" y="1042416"/>
            <a:ext cx="12801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1" i="1">
                <a:solidFill>
                  <a:srgbClr val="1E8A4C"/>
                </a:solidFill>
                <a:latin typeface="Calibri"/>
              </a:rPr>
              <a:t>OAuth2 Code + PKCE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1874520"/>
            <a:ext cx="27432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50" b="1">
                <a:solidFill>
                  <a:srgbClr val="142640"/>
                </a:solidFill>
                <a:latin typeface="Calibri"/>
              </a:rPr>
              <a:t>FastAPI</a:t>
            </a:r>
          </a:p>
          <a:p>
            <a:pPr algn="ctr"/>
            <a:r>
              <a:rPr sz="800" i="1">
                <a:solidFill>
                  <a:srgbClr val="555555"/>
                </a:solidFill>
              </a:rPr>
              <a:t>Valida JWT firma / exp / aud / iss vía JWKS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709160" y="1691640"/>
            <a:ext cx="0" cy="18288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11880" y="1691640"/>
            <a:ext cx="1097280" cy="18288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2537460"/>
            <a:ext cx="201168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100" b="1">
                <a:solidFill>
                  <a:srgbClr val="142640"/>
                </a:solidFill>
                <a:latin typeface="Calibri"/>
              </a:rPr>
              <a:t>Supervisor Agent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331720"/>
            <a:ext cx="0" cy="210312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2940" y="3131820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42640"/>
                </a:solidFill>
                <a:latin typeface="Calibri"/>
              </a:rPr>
              <a:t>Claims
Agent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325880" y="2944368"/>
            <a:ext cx="150876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71700" y="3131820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42640"/>
                </a:solidFill>
                <a:latin typeface="Calibri"/>
              </a:rPr>
              <a:t>Broker
Agent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2944368"/>
            <a:ext cx="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80460" y="3131820"/>
            <a:ext cx="1325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42640"/>
                </a:solidFill>
                <a:latin typeface="Calibri"/>
              </a:rPr>
              <a:t>Commercial
Intake Agent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34640" y="2944368"/>
            <a:ext cx="1508760" cy="19202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63040" y="3863340"/>
            <a:ext cx="2743200" cy="411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80" b="1">
                <a:solidFill>
                  <a:srgbClr val="142640"/>
                </a:solidFill>
                <a:latin typeface="Calibri"/>
              </a:rPr>
              <a:t>Tool Layer (determinista)</a:t>
            </a:r>
          </a:p>
          <a:p>
            <a:pPr algn="ctr"/>
            <a:r>
              <a:rPr sz="730" i="1">
                <a:solidFill>
                  <a:srgbClr val="555555"/>
                </a:solidFill>
              </a:rPr>
              <a:t>Runtime actual — Tool Provider = inprocess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25880" y="3630168"/>
            <a:ext cx="150876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34640" y="3630168"/>
            <a:ext cx="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834640" y="3630168"/>
            <a:ext cx="1508760" cy="237744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97280" y="452628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Azure Functions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52628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50" b="1">
                <a:solidFill>
                  <a:srgbClr val="555555"/>
                </a:solidFill>
                <a:latin typeface="Calibri"/>
              </a:rPr>
              <a:t>Durable Functions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834640" y="4270248"/>
            <a:ext cx="0" cy="228600"/>
          </a:xfrm>
          <a:prstGeom prst="line">
            <a:avLst/>
          </a:prstGeom>
          <a:ln w="22225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05840" y="5029200"/>
            <a:ext cx="466344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555555"/>
                </a:solidFill>
                <a:latin typeface="Calibri"/>
              </a:rPr>
              <a:t>ARQUITECTURA OBJETIVO — diseñada y probada; pendiente de cuota de suscripción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09660" y="1623059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E8A4C"/>
                </a:solidFill>
                <a:latin typeface="Calibri"/>
              </a:rPr>
              <a:t>Azure OpenAI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razonamiento / tool calling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06240" y="1874519"/>
            <a:ext cx="4498848" cy="2194561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09660" y="235458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B87A00"/>
                </a:solidFill>
                <a:latin typeface="Calibri"/>
              </a:rPr>
              <a:t>Azure AI Search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provisionado, índice vacío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4206240" y="2606040"/>
            <a:ext cx="4498848" cy="1463040"/>
          </a:xfrm>
          <a:prstGeom prst="line">
            <a:avLst/>
          </a:prstGeom>
          <a:ln w="22225">
            <a:solidFill>
              <a:srgbClr val="B8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09660" y="308610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E8A4C"/>
                </a:solidFill>
                <a:latin typeface="Calibri"/>
              </a:rPr>
              <a:t>Cosmos DB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historial de conversación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206240" y="3337560"/>
            <a:ext cx="4498848" cy="73152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09660" y="3817620"/>
            <a:ext cx="19659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69" b="1">
                <a:solidFill>
                  <a:srgbClr val="1E8A4C"/>
                </a:solidFill>
                <a:latin typeface="Calibri"/>
              </a:rPr>
              <a:t>Datos de negocio
sintéticos</a:t>
            </a:r>
          </a:p>
          <a:p>
            <a:pPr algn="ctr"/>
            <a:r>
              <a:rPr sz="650" i="1">
                <a:solidFill>
                  <a:srgbClr val="555555"/>
                </a:solidFill>
              </a:rPr>
              <a:t>sin datos reales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6240" y="4069080"/>
            <a:ext cx="4498848" cy="0"/>
          </a:xfrm>
          <a:prstGeom prst="line">
            <a:avLst/>
          </a:prstGeom>
          <a:ln w="22225">
            <a:solidFill>
              <a:srgbClr val="1E8A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5285232"/>
            <a:ext cx="11155680" cy="25603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F3A5F"/>
                </a:solidFill>
                <a:latin typeface="Calibri"/>
              </a:rPr>
              <a:t>PLATAFORMA, SEGURIDAD Y OBSERVABILIDAD — transversal a toda la arquitectura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Container
Apps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003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Container
Registry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91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Key Vault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579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Managed
Identity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867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Application
Insights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15500" y="5610639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778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930" b="0">
                <a:solidFill>
                  <a:srgbClr val="142640"/>
                </a:solidFill>
                <a:latin typeface="Calibri"/>
              </a:rPr>
              <a:t>Azure
Monitor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28816"/>
            <a:ext cx="5943600" cy="18979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555555"/>
                </a:solidFill>
                <a:latin typeface="Calibri"/>
              </a:rPr>
              <a:t>TMX Enterprise AI Reference Platform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6528816"/>
            <a:ext cx="52120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30" b="0" i="1">
                <a:solidFill>
                  <a:srgbClr val="555555"/>
                </a:solidFill>
                <a:latin typeface="Calibri"/>
              </a:rPr>
              <a:t>Fuente: ADR-0001–0010, ops/bicep/*, docs/Architecture/diagrams/authentication-request-flow.md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B9CCE0"/>
                </a:solidFill>
                <a:latin typeface="Calibri"/>
              </a:rPr>
              <a:t>CADA TECNOLOGÍA TIENE UNA ALTERNATIVA DESCARTADA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Decisiones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05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488322"/>
              </p:ext>
            </p:extLst>
          </p:nvPr>
        </p:nvGraphicFramePr>
        <p:xfrm>
          <a:off x="502920" y="1004458"/>
          <a:ext cx="11201400" cy="310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Decisión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Alternativa considerada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Razón arquitectónica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OpenAI — gpt-5-mini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Modelos de mayor tamaño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Mejor equilibrio de latencia y costo para conversación, detección de intención y tool calling; la lógica de negocio es determinista y no depende del tamaño del modelo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Container Apps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42640"/>
                          </a:solidFill>
                        </a:rPr>
                        <a:t>Azure Kubernetes Service (AKS)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Sin concurrencia masiva de usuarios hoy; contenedores administrados y autoescalado con menor esfuerzo operativo que un clúster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Cosmos DB (NoSQL)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SQL Database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El historial de conversación es naturalmente un documento; escalado horizontal sin esquema relacional rígido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Microsoft Entra ID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Autenticación propia (custom)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Estándar empresarial ya auditado; evita mantener y asegurar lógica de autenticación propia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Tool Calling determinista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Lógica de negocio dentro del LLM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Acciones de negocio auditables y reproducibles — el modelo nunca decide un resultado de negocio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AI Search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Solo contexto en el prompt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Recuperación documental real con citas verificables, no solo lo que el modelo recuerda de su entrenamiento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Azure Key Vault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42640"/>
                          </a:solidFill>
                        </a:rPr>
                        <a:t>Secretos en configuración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Ningún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secreto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en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código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ni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en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texto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plano;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acceso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y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rotación</a:t>
                      </a:r>
                      <a:r>
                        <a:rPr sz="11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100" dirty="0" err="1">
                          <a:solidFill>
                            <a:srgbClr val="142640"/>
                          </a:solidFill>
                        </a:rPr>
                        <a:t>auditados</a:t>
                      </a:r>
                      <a:endParaRPr sz="11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5074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¿Por qué gpt-5-mini es suficiente?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Las tareas del modelo son acotadas: mantener la conversación, detectar intención y decidir qué herramienta invocar — no calcular el resultado de negocio.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Menor latencia por turno — relevante en una conversación interactiva.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Menor costo por token, sostenible para un volumen de conversaciones creciente.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315968"/>
            <a:ext cx="507492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/>
              </a:rPr>
              <a:t>¿Por qué Container Apps y no AKS?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TMX no maneja hoy una concurrencia de usuarios que justifique un clúster de Kubernetes.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Un clúster AKS aumentaría la complejidad operativa sin un beneficio proporcional actual.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142640"/>
                </a:solidFill>
                <a:latin typeface="Calibri"/>
              </a:rPr>
              <a:t>▪  Container Apps entrega contenedores administrados, autoescalado y portabilidad Docker con menor esfuerzo operativo — AKS queda como opción futura si la carga crece.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POR QUÉ EXISTE CADA CONTROL, NO SOLO QUÉ HACE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Seguridad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06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03334"/>
              </p:ext>
            </p:extLst>
          </p:nvPr>
        </p:nvGraphicFramePr>
        <p:xfrm>
          <a:off x="502920" y="11430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Control de seguridad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Por qué existe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Microsoft Entra ID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Identidad federada estándar — sin credenciales propias que crear, almacenar ni auditar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OAuth2 Authorization Code + PKCE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Flujo recomendado para un cliente público (SPA) que no puede resguardar un secreto de cliente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Validación JWT (firma / exp / aud / iss)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Ninguna solicitud se acepta solo por traer un token — se verifica que sea auténtico, vigente y emitido para esta API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JWKS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Claves públicas de firma obtenidas en vivo desde Entra ID — rotación de claves sin redespliegue del sistema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Mitigación de IDOR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La identidad del usuario se deriva exclusivamente del token validado, nunca de un valor que el cliente envía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Azure Key Vault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Externalización de secretos — ninguno vive en código, configuración de texto plano ni control de versiones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640"/>
                          </a:solidFill>
                        </a:rPr>
                        <a:t>Managed Identity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Autenticación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-a-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sin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credenciales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que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rotar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ni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almacenar</a:t>
                      </a:r>
                      <a:r>
                        <a:rPr sz="1400" b="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42640"/>
                          </a:solidFill>
                        </a:rPr>
                        <a:t>manualmente</a:t>
                      </a:r>
                      <a:endParaRPr sz="1400" b="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5778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687568"/>
            <a:ext cx="1060704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Principio rector: ningún componente confía implícitamente en el anterior, y ningún secreto vive dentro del código fuente en ningún punto del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QUÉ SE VALIDÓ HOY Y QUÉ VALOR TIENE MAÑANA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Observabilidad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07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59004"/>
              </p:ext>
            </p:extLst>
          </p:nvPr>
        </p:nvGraphicFramePr>
        <p:xfrm>
          <a:off x="502920" y="1143000"/>
          <a:ext cx="11201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Capacidad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Validación en este proyecto académico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Propósito real en producción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42640"/>
                          </a:solidFill>
                        </a:rPr>
                        <a:t>Application Insights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Telemetría de solicitudes capturada y revisada manualmente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Diagnóstico proactivo de degradación de rendimiento en producción real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Azure Monitor — alertas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3 reglas activas (errores, latencia, disponibilidad), confirmadas en vivo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Notificación automática a un equipo de operaciones ante un incidente real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Logging estructurado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JSON con nivel, mensaje y correlación en cada línea, verificado manualmente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Búsqueda y correlación masiva de eventos en un volumen real de tráfico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Correlation IDs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Generado y propagado en cada solicitud, confirmado extremo a extremo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Reconstrucción de una transacción completa entre múltiples servicios en un incidente real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Trazabilidad distribuida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No instrumentada formalmente (OpenTelemetry) en esta fase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Visibilidad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de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latencia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por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cada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salto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entre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Agente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, Tool y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servicio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externo</a:t>
                      </a:r>
                      <a:endParaRPr sz="14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89204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0704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7A00"/>
                </a:solidFill>
                <a:latin typeface="Calibri"/>
              </a:rPr>
              <a:t>LECTURA HONESTA DEL ALCANCE ACADÉMICO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0704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42640"/>
                </a:solidFill>
                <a:latin typeface="Calibri"/>
              </a:rPr>
              <a:t>La observabilidad se validó en este proyecto a nivel básico: la instrumentación existe y funciona, pero no fue sometida a un incidente real ni a un volumen de tráfico de producción. Su valor arquitectónico completo —detección proactiva, correlación a escala, alertamiento operativo real— se materializa recién en un entorno de producción con carga y usuarios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EL SISTEMA FUNDAMENTA SUS 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Arquitectura del 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7C86"/>
                </a:solidFill>
                <a:latin typeface="Calibri"/>
              </a:rPr>
              <a:t>¿Qué es RAG y por qué se incluyó?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Retrieval-Augmented Generation: antes de responder, el sistema recupera fragmentos reales de documentos y los cita — la respuesta no depende únicamente de lo que el modelo "recuerda".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2640"/>
                </a:solidFill>
                <a:latin typeface="Calibri"/>
              </a:rPr>
              <a:t>▪  Azure AI Search es el motor de recuperación elegido por su integración nativa con el resto de la plataforma Azure y su capacidad de búsqueda híbrida (texto y vectorial).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218688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7A00"/>
                </a:solidFill>
                <a:latin typeface="Calibri"/>
              </a:rPr>
              <a:t>ESTADO ACTUAL — alcance limitado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El servicio Azure AI Search está provisionado, pero su índice aún no está poblado.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El proveedor de conocimiento activo hoy es local (documentos versionados en el repositorio).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B87A00"/>
                </a:solidFill>
                <a:latin typeface="Calibri"/>
              </a:rPr>
              <a:t>▪  Todo el contenido documental usado es sintético — sin pólizas ni manuales reales.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1E8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218688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8A4C"/>
                </a:solidFill>
                <a:latin typeface="Calibri"/>
              </a:rPr>
              <a:t>PRODUCCIÓN — cómo se conectaría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Pólizas y condiciones reales, indexadas para búsqueda híbrida.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Manuales de suscripción (underwriting) y procedimientos de siniestros.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Documentación corporativa y normativa vigente, con control de acceso propio.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CÓMO SE CONSTRUYE, VALIDA Y DESPLIEGA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6692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Calibri"/>
              </a:rPr>
              <a:t>Pipeline de integración y entrega continua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47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CI — Calidad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583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 dirty="0">
                <a:solidFill>
                  <a:srgbClr val="0E7C86"/>
                </a:solidFill>
                <a:latin typeface="Calibri"/>
              </a:rPr>
              <a:t>Quality
Gates</a:t>
            </a:r>
          </a:p>
        </p:txBody>
      </p:sp>
      <p:cxnSp>
        <p:nvCxnSpPr>
          <p:cNvPr id="9" name="Connector 8"/>
          <p:cNvCxnSpPr>
            <a:cxnSpLocks/>
            <a:stCxn id="7" idx="3"/>
          </p:cNvCxnSpPr>
          <p:nvPr/>
        </p:nvCxnSpPr>
        <p:spPr>
          <a:xfrm>
            <a:off x="224723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1319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Docker
Build</a:t>
            </a:r>
          </a:p>
        </p:txBody>
      </p:sp>
      <p:cxnSp>
        <p:nvCxnSpPr>
          <p:cNvPr id="11" name="Connector 10"/>
          <p:cNvCxnSpPr>
            <a:cxnSpLocks/>
            <a:stCxn id="8" idx="3"/>
          </p:cNvCxnSpPr>
          <p:nvPr/>
        </p:nvCxnSpPr>
        <p:spPr>
          <a:xfrm>
            <a:off x="398459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5055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IaC
(Bicep)</a:t>
            </a:r>
          </a:p>
        </p:txBody>
      </p:sp>
      <p:cxnSp>
        <p:nvCxnSpPr>
          <p:cNvPr id="13" name="Connector 12"/>
          <p:cNvCxnSpPr>
            <a:cxnSpLocks/>
            <a:stCxn id="10" idx="3"/>
          </p:cNvCxnSpPr>
          <p:nvPr/>
        </p:nvCxnSpPr>
        <p:spPr>
          <a:xfrm>
            <a:off x="572195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8791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Despliegue
DEV</a:t>
            </a:r>
          </a:p>
        </p:txBody>
      </p:sp>
      <p:cxnSp>
        <p:nvCxnSpPr>
          <p:cNvPr id="15" name="Connector 14"/>
          <p:cNvCxnSpPr>
            <a:cxnSpLocks/>
            <a:stCxn id="12" idx="3"/>
          </p:cNvCxnSpPr>
          <p:nvPr/>
        </p:nvCxnSpPr>
        <p:spPr>
          <a:xfrm>
            <a:off x="745931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25279" y="1508760"/>
            <a:ext cx="15087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rIns="38100" rtlCol="0" anchor="ctr"/>
          <a:lstStyle/>
          <a:p>
            <a:pPr algn="ctr"/>
            <a:r>
              <a:rPr sz="1000" b="1">
                <a:solidFill>
                  <a:srgbClr val="0E7C86"/>
                </a:solidFill>
                <a:latin typeface="Calibri"/>
              </a:rPr>
              <a:t>Smoke
Tests</a:t>
            </a:r>
          </a:p>
        </p:txBody>
      </p:sp>
      <p:cxnSp>
        <p:nvCxnSpPr>
          <p:cNvPr id="17" name="Connector 16"/>
          <p:cNvCxnSpPr>
            <a:cxnSpLocks/>
            <a:stCxn id="14" idx="3"/>
          </p:cNvCxnSpPr>
          <p:nvPr/>
        </p:nvCxnSpPr>
        <p:spPr>
          <a:xfrm>
            <a:off x="9196679" y="1783080"/>
            <a:ext cx="224028" cy="0"/>
          </a:xfrm>
          <a:prstGeom prst="line">
            <a:avLst/>
          </a:prstGeom>
          <a:ln w="22225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286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42640"/>
                </a:solidFill>
                <a:latin typeface="Calibri"/>
              </a:rPr>
              <a:t>▪  Cada etapa bloquea a la siguiente — nada avanza a producción si la calidad o la seguridad fallan.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42640"/>
                </a:solidFill>
                <a:latin typeface="Calibri"/>
              </a:rPr>
              <a:t>▪  El despliegue ocurre solo desde la rama principal; cada imagen queda trazable a un commit.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383280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8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10607040" cy="25904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dirty="0">
                <a:solidFill>
                  <a:srgbClr val="B87A00"/>
                </a:solidFill>
                <a:latin typeface="Calibri"/>
              </a:rPr>
              <a:t>¿Por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qué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 Azure Functions no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está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desplegado</a:t>
            </a:r>
            <a:r>
              <a:rPr sz="1350" b="1" i="0" dirty="0">
                <a:solidFill>
                  <a:srgbClr val="B87A00"/>
                </a:solidFill>
                <a:latin typeface="Calibri"/>
              </a:rPr>
              <a:t>? — </a:t>
            </a:r>
            <a:r>
              <a:rPr lang="es-MX" sz="1350" b="1" dirty="0">
                <a:solidFill>
                  <a:srgbClr val="B87A00"/>
                </a:solidFill>
                <a:latin typeface="Calibri"/>
              </a:rPr>
              <a:t>E</a:t>
            </a:r>
            <a:r>
              <a:rPr sz="1350" b="1" i="0" dirty="0" err="1">
                <a:solidFill>
                  <a:srgbClr val="B87A00"/>
                </a:solidFill>
                <a:latin typeface="Calibri"/>
              </a:rPr>
              <a:t>xplicación</a:t>
            </a:r>
            <a:endParaRPr sz="1350" b="1" i="0" dirty="0">
              <a:solidFill>
                <a:srgbClr val="B87A0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La suscripción de Azure usada en DEV tiene cuota cero para Microsoft.Web / App Service — confirmado con múltiples intentos reales de despliegue, en distintos SKU, todos rechazados por la misma razón de cuota.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Es una restricción externa de la suscripción, no una limitación de diseño ni un defecto de arquitectura — el código, las pruebas y la infraestructura de Azure Functions ya existen.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B87A00"/>
                </a:solidFill>
                <a:latin typeface="Calibri"/>
              </a:rPr>
              <a:t>▪  Por eso el runtime actual es "Tool Provider en proceso": exactamente la misma arquitectura de herramientas, ejecutando en un runtime distinto al objetivo. Cambiar de runtime es un cambio de configuración, no una reescritura de código.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QUÉ TAN MADURA ESTÁ ESTA ARQUITECTURA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10 /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06595"/>
              </p:ext>
            </p:extLst>
          </p:nvPr>
        </p:nvGraphicFramePr>
        <p:xfrm>
          <a:off x="502920" y="1188720"/>
          <a:ext cx="557784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Dimensión evaluada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Pruebas de backend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684 casos, ejecución exitosa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Pruebas de frontend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40 casos, ejecución exitosa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Decisiones de arquitectura (ADR)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10 documentadas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Autenticación empresarial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Implementada y verificada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42640"/>
                          </a:solidFill>
                        </a:rPr>
                        <a:t>IDOR (aislamiento de datos)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Resuelto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y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comprobado</a:t>
                      </a:r>
                      <a:r>
                        <a:rPr sz="1400" dirty="0">
                          <a:solidFill>
                            <a:srgbClr val="142640"/>
                          </a:solidFill>
                        </a:rPr>
                        <a:t> con </a:t>
                      </a:r>
                      <a:r>
                        <a:rPr sz="1400" dirty="0" err="1">
                          <a:solidFill>
                            <a:srgbClr val="142640"/>
                          </a:solidFill>
                        </a:rPr>
                        <a:t>pruebas</a:t>
                      </a:r>
                      <a:endParaRPr sz="1400" dirty="0">
                        <a:solidFill>
                          <a:srgbClr val="142640"/>
                        </a:solidFill>
                      </a:endParaRP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49039"/>
            <a:ext cx="557784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C86"/>
                </a:solidFill>
                <a:latin typeface="Calibri"/>
              </a:rPr>
              <a:t>Puntaje de madurez arquitectónica (Production Readiness)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69080"/>
          <a:ext cx="55778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Evaluación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Puntaje</a:t>
                      </a:r>
                    </a:p>
                  </a:txBody>
                  <a:tcPr marL="63500" marR="635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Antes de autenticación (seguridad)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2 / 5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Con autenticación, 5 dimensiones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3.8 / 5</a:t>
                      </a:r>
                    </a:p>
                  </a:txBody>
                  <a:tcPr marL="63500" marR="635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Evaluación final, 10 dimensiones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640"/>
                          </a:solidFill>
                        </a:rPr>
                        <a:t>3.5 / 5</a:t>
                      </a:r>
                    </a:p>
                  </a:txBody>
                  <a:tcPr marL="63500" marR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49240"/>
            <a:ext cx="557784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Calibri"/>
              </a:rPr>
              <a:t>El puntaje final es más bajo que 3.8 no por retroceso, sino por una metodología más exigente que evalúa por separado 5 dimensiones adicionales.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394960" cy="50749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1E0"/>
                </a:solidFill>
                <a:latin typeface="Calibri"/>
              </a:rPr>
              <a:t>MEJORAS DE SEGURIDAD VERIFICADAS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Autenticación faltante — resuelta con Microsoft Entra ID de extremo a extremo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Confianza de identidad del lado cliente — eliminada; la identidad ya no la declara el cliente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E8A4C"/>
                </a:solidFill>
                <a:latin typeface="Calibri"/>
              </a:rPr>
              <a:t>▪  IDOR en historial de conversaciones — resuelto y comprobado con pruebas de regresión dedicadas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57600"/>
            <a:ext cx="493776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1E0"/>
                </a:solidFill>
                <a:latin typeface="Calibri"/>
              </a:rPr>
              <a:t>Documentación y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0233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10 ADR con contexto, alternativas y consecuencias — no solo la decisión final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6 documentos de revisión de arquitectura, con hallazgos abiertos y resueltos rastreados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▪  22 hallazgos abiertos hoy (0 críticos, 0 altos) — transparencia completa, no ocultamiento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SISTEMA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1. Inicio de sesión con Microsoft (Entra ID)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2. Conversación de Siniestros, de principio a fin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3. Servicios a Corredores — comisiones y pago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4. Nuevos Negocios — registro de un prospecto</a:t>
            </a:r>
          </a:p>
          <a:p>
            <a:pPr>
              <a:spcAft>
                <a:spcPts val="2000"/>
              </a:spcAft>
            </a:pPr>
            <a:r>
              <a:rPr sz="1600">
                <a:solidFill>
                  <a:srgbClr val="142640"/>
                </a:solidFill>
                <a:latin typeface="Calibri"/>
              </a:rPr>
              <a:t>▪  5. Memoria conversacional e historial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80560"/>
            <a:ext cx="50292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55555"/>
                </a:solidFill>
                <a:latin typeface="Calibri"/>
              </a:rPr>
              <a:t>Las capturas corresponden a sesiones reales de validación en el entorno DEV; la demostración en vivo mostrará la sesión actual autenticada con Microsoft Entra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04_polic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472674"/>
            <a:ext cx="2734056" cy="18552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Servicios a Corredores — estado de póliza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23444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05b_claim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2" y="1472674"/>
            <a:ext cx="2734056" cy="18552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358444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Siniestro registrado, ajustador asignado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_06b_payment_requ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4124434"/>
            <a:ext cx="2734056" cy="18552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Solicitud de pago de comisión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3886200"/>
            <a:ext cx="278892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fig_08_conversation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3921333"/>
            <a:ext cx="2734056" cy="22614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400" y="6236208"/>
            <a:ext cx="27889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55555"/>
                </a:solidFill>
                <a:latin typeface="Calibri"/>
              </a:rPr>
              <a:t>Memoria conversacional entre áreas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555"/>
                </a:solidFill>
                <a:latin typeface="Calibri"/>
              </a:rPr>
              <a:t>TMX Enterprise AI Reference Platform — Defensa Final del Proyecto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6528816"/>
            <a:ext cx="47548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Capturas: sesiones de validación DEV (docs/Architecture/Manual_de_Usuario.docx)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86868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CE0"/>
                </a:solidFill>
                <a:latin typeface="Calibri"/>
              </a:rPr>
              <a:t>EL CAMINO DESDE DEV ACADÉMICO HASTA PRODUCCIÓN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98755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Evolución Futura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9CCE0"/>
                </a:solidFill>
                <a:latin typeface="Calibri"/>
              </a:rP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64008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Azure Functions y Durable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Habilitar la capa serverless en cuanto exista cuota de suscripción — el código y la infraestructura ya están listos.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47472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Sistemas empresariales reales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Integrar con los sistemas de pólizas, siniestros y comisiones reales de la organización, en lugar de datos sintéticos.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30936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Azure AI Search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Poblar el índice con pólizas, manuales y procedimientos reales, con gobierno de acceso propio.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18872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9144000" y="131673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Monitoreo de producción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2468880" cy="8190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Alertas de eventos de seguridad y trazabilidad distribuida completa, no solo métricas de salud de infraestructura.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640080" y="3785616"/>
            <a:ext cx="2468880" cy="3241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Private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Aislar la red de los servicios de datos — hoy diferido por costo en DEV, con la decisión ya documentada.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3474720" y="3785616"/>
            <a:ext cx="2468880" cy="3241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Autoescalado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572000"/>
            <a:ext cx="2468880" cy="62517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Definir una regla de escalado por concurrencia; hoy la plataforma corre con una sola réplica fija.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57600"/>
            <a:ext cx="2743200" cy="2331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6309360" y="3785616"/>
            <a:ext cx="2468880" cy="606641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b="1" i="0">
                <a:solidFill>
                  <a:srgbClr val="1F3A5F"/>
                </a:solidFill>
                <a:latin typeface="Calibri"/>
              </a:rPr>
              <a:t>Aprobación humana por confianza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72000"/>
            <a:ext cx="2468880" cy="101297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Implementar el escalamiento a una persona cuando la confianza de la intención detectada sea baja — nombrado en el diseño original, aún no construido.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FC1E0"/>
                </a:solidFill>
                <a:latin typeface="Calibri"/>
              </a:rPr>
              <a:t>CIERRE DE LA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05840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Qué se logró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Una arquitectura multiagente funcional, con enrutamiento determinista y memoria conversacional entre dominios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Autenticación empresarial completa, con el hallazgo más crítico del proyecto —IDOR— resuelto y comprobado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Una plataforma desplegada, probada y observable en un entorno real de Azure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Por qué esta arquitectura es apropiada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Cada decisión —modelo, cómputo, base de datos, identidad— responde a una restricción real del problema, no a una preferencia tecnológica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El acoplamiento débil permitió incorporar seguridad empresarial sin reescribir la lógica de negocio existente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Está diseñada para evolucionar —serverless, escalado, monitoreo de producción— sin cambios estructurales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78308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14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6488" y="1947672"/>
            <a:ext cx="3209544" cy="5943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 i="0">
                <a:solidFill>
                  <a:srgbClr val="9FC1E0"/>
                </a:solidFill>
                <a:latin typeface="Calibri"/>
              </a:rPr>
              <a:t>Lecciones y tradeoffs arquitectónicos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560320"/>
            <a:ext cx="320954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Cuota de suscripción en la nube es una restricción real: la abstracción de proveedor evitó que bloqueara el resto del sistema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Documentar una capacidad no es lo mismo que construirla —el escalamiento humano lo demostró</a:t>
            </a:r>
          </a:p>
          <a:p>
            <a:pPr>
              <a:spcAft>
                <a:spcPts val="1000"/>
              </a:spcAft>
            </a:pPr>
            <a:r>
              <a:rPr sz="1080">
                <a:solidFill>
                  <a:srgbClr val="FFFFFF"/>
                </a:solidFill>
                <a:latin typeface="Calibri"/>
              </a:rPr>
              <a:t>▪  Simplicidad operativa (Container Apps) puede ser una decisión de arquitectura tan deliberada como la escalabilidad máxima (AKS)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Gracias —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5775</Words>
  <Application>Microsoft Office PowerPoint</Application>
  <PresentationFormat>Panorámica</PresentationFormat>
  <Paragraphs>485</Paragraphs>
  <Slides>13</Slides>
  <Notes>12</Notes>
  <HiddenSlides>2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J. Marin Mercado</cp:lastModifiedBy>
  <cp:revision>3</cp:revision>
  <dcterms:created xsi:type="dcterms:W3CDTF">2013-01-27T09:14:16Z</dcterms:created>
  <dcterms:modified xsi:type="dcterms:W3CDTF">2026-08-11T22:51:55Z</dcterms:modified>
  <cp:category/>
</cp:coreProperties>
</file>