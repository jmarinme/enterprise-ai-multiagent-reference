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0BD896-1190-4307-8C06-0DFC8613C538}" v="3" dt="2026-08-11T21:15:57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>
        <p:scale>
          <a:sx n="90" d="100"/>
          <a:sy n="90" d="100"/>
        </p:scale>
        <p:origin x="44" y="-5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4160520"/>
            <a:ext cx="12191695" cy="269748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FC1E0"/>
                </a:solidFill>
                <a:latin typeface="Calibri"/>
              </a:rPr>
              <a:t>PROYECTO FINAL — DEFENSA ACADÉMICA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17373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TMX Enterprise AI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Multi-Agent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8755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9D8E8"/>
                </a:solidFill>
                <a:latin typeface="Calibri"/>
              </a:rPr>
              <a:t>Plataforma conversacional multiagente para la operación de seguros corporativos, con autenticación empresarial y ejecución determinista de acciones de negocio.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ALUMNO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Miguel Marin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800600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[Nombre del Curso]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PROFESOR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800600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[Nombre del Profesor]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FECHA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2026-08-11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FC1E0"/>
                </a:solidFill>
                <a:latin typeface="Calibri"/>
              </a:rPr>
              <a:t>Implementación de referencia académica — no representa una arquitectura de producción oficialmente aprobada (datos y APIs de negocio sintéticos).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EL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Problema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E7C86"/>
                </a:solidFill>
                <a:latin typeface="Calibri"/>
              </a:rPr>
              <a:t>¿Qué problema enfrenta hoy el negocio?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42640"/>
                </a:solidFill>
                <a:latin typeface="Calibri"/>
              </a:rPr>
              <a:t>▪  Tres procesos de negocio conviven de forma separada: reporte de siniestros, servicios a corredores y captación de nuevos negocios.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42640"/>
                </a:solidFill>
                <a:latin typeface="Calibri"/>
              </a:rPr>
              <a:t>▪  Cada proceso se atiende por un canal distinto — llamadas, formularios, correo — sin un punto único de contacto para el usuario.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42640"/>
                </a:solidFill>
                <a:latin typeface="Calibri"/>
              </a:rPr>
              <a:t>▪  La experiencia actual es manual: el usuario debe saber de antemano a qué área dirigirse y qué información proporcionar en cada una.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42640"/>
                </a:solidFill>
                <a:latin typeface="Calibri"/>
              </a:rPr>
              <a:t>▪  Esta fragmentación genera fricción, tiempos de respuesta inconsistentes y una experiencia distinta según el canal elegido.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97680"/>
            <a:ext cx="1120140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¿Por qué una arquitectura multiagente aporta valor?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920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Un solo punto de entrada conversacional para las tres áreas — el usuario no necesita saber qué sistema atiende su solicitud.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Un agente especializado por dominio permite profundidad de conocimiento sin perder coherencia en la conversación.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La orquestación inteligente dirige cada mensaje al especialista correcto de forma automática y transparente para el usuario.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DEFINICIÓN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Objetivos y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40680" cy="5120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49377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Calibri"/>
              </a:rPr>
              <a:t>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50">
                <a:solidFill>
                  <a:srgbClr val="0E7C86"/>
                </a:solidFill>
                <a:latin typeface="Calibri"/>
              </a:rPr>
              <a:t>▪  Centralizar los tres procesos de negocio en una sola experiencia.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0E7C86"/>
                </a:solidFill>
                <a:latin typeface="Calibri"/>
              </a:rPr>
              <a:t>▪  Crear un punto único de entrada conversacional.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0E7C86"/>
                </a:solidFill>
                <a:latin typeface="Calibri"/>
              </a:rPr>
              <a:t>▪  Implementar IA Agéntica — agentes especializados que colaboran bajo un mismo supervisor.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0E7C86"/>
                </a:solidFill>
                <a:latin typeface="Calibri"/>
              </a:rPr>
              <a:t>▪  Incorporar memoria conversacional entre dominios.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0E7C86"/>
                </a:solidFill>
                <a:latin typeface="Calibri"/>
              </a:rPr>
              <a:t>▪  Diseñar una arquitectura empresarial, segura y auditable.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40680" cy="51206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ALCANCE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50">
                <a:solidFill>
                  <a:srgbClr val="142640"/>
                </a:solidFill>
                <a:latin typeface="Calibri"/>
              </a:rPr>
              <a:t>▪  Reporte de siniestros (proceso completo, extremo a extremo).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42640"/>
                </a:solidFill>
                <a:latin typeface="Calibri"/>
              </a:rPr>
              <a:t>▪  Servicios a corredores — consulta de pólizas, comisiones y pagos.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42640"/>
                </a:solidFill>
                <a:latin typeface="Calibri"/>
              </a:rPr>
              <a:t>▪  Nuevos negocios — captación y registro de prospectos comerciales.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42640"/>
                </a:solidFill>
                <a:latin typeface="Calibri"/>
              </a:rPr>
              <a:t>▪  Memoria conversacional entre las tres áreas.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42640"/>
                </a:solidFill>
                <a:latin typeface="Calibri"/>
              </a:rPr>
              <a:t>▪  Seguridad empresarial para proteger la identidad y la información del usuario.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EL CORAZÓN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Arquitectura Empresarial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6586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150" b="1">
                <a:solidFill>
                  <a:srgbClr val="142640"/>
                </a:solidFill>
                <a:latin typeface="Calibri"/>
              </a:rPr>
              <a:t>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165860"/>
            <a:ext cx="15544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150" b="1">
                <a:solidFill>
                  <a:srgbClr val="142640"/>
                </a:solidFill>
                <a:latin typeface="Calibri"/>
              </a:rPr>
              <a:t>React SPA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65860"/>
            <a:ext cx="1920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100" b="1">
                <a:solidFill>
                  <a:srgbClr val="1E8A4C"/>
                </a:solidFill>
                <a:latin typeface="Calibri"/>
              </a:rPr>
              <a:t>Microsoft
Entra 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1417320"/>
            <a:ext cx="54864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40480" y="1417320"/>
            <a:ext cx="457200" cy="0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6200" y="914400"/>
            <a:ext cx="146304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1E8A4C"/>
                </a:solidFill>
                <a:latin typeface="Calibri"/>
              </a:rPr>
              <a:t>OAuth2 Authorization</a:t>
            </a:r>
          </a:p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1E8A4C"/>
                </a:solidFill>
                <a:latin typeface="Calibri"/>
              </a:rPr>
              <a:t>Code + PKCE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080260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150" b="1">
                <a:solidFill>
                  <a:srgbClr val="142640"/>
                </a:solidFill>
                <a:latin typeface="Calibri"/>
              </a:rPr>
              <a:t>FastAPI — valida JWT vía JWKS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" y="1673352"/>
            <a:ext cx="0" cy="201168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886200" y="1874520"/>
            <a:ext cx="1371600" cy="201168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965960" y="288036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150" b="1">
                <a:solidFill>
                  <a:srgbClr val="142640"/>
                </a:solidFill>
                <a:latin typeface="Calibri"/>
              </a:rPr>
              <a:t>Supervisor 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2587752"/>
            <a:ext cx="0" cy="292608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3611880"/>
            <a:ext cx="1463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50" b="1">
                <a:solidFill>
                  <a:srgbClr val="142640"/>
                </a:solidFill>
                <a:latin typeface="Calibri"/>
              </a:rPr>
              <a:t>Claims
Agent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417320" y="3337560"/>
            <a:ext cx="1645920" cy="27432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31720" y="3611880"/>
            <a:ext cx="1463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50" b="1">
                <a:solidFill>
                  <a:srgbClr val="142640"/>
                </a:solidFill>
                <a:latin typeface="Calibri"/>
              </a:rPr>
              <a:t>Broker
Agent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3240" y="3337560"/>
            <a:ext cx="0" cy="27432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977640" y="3611880"/>
            <a:ext cx="1463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50" b="1">
                <a:solidFill>
                  <a:srgbClr val="142640"/>
                </a:solidFill>
                <a:latin typeface="Calibri"/>
              </a:rPr>
              <a:t>Commercial
Intake Agent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63240" y="3337560"/>
            <a:ext cx="1645920" cy="27432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417320" y="4434840"/>
            <a:ext cx="32918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100" b="1">
                <a:solidFill>
                  <a:srgbClr val="142640"/>
                </a:solidFill>
                <a:latin typeface="Calibri"/>
              </a:rPr>
              <a:t>Tool Layer (Tools deterministas)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17320" y="4160520"/>
            <a:ext cx="1645920" cy="27432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63240" y="4160520"/>
            <a:ext cx="0" cy="27432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063240" y="4160520"/>
            <a:ext cx="1645920" cy="27432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" y="5234940"/>
            <a:ext cx="11887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50" b="1">
                <a:solidFill>
                  <a:srgbClr val="0E7C86"/>
                </a:solidFill>
                <a:latin typeface="Calibri"/>
              </a:rPr>
              <a:t>Azure OpenAI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85800" y="4892040"/>
            <a:ext cx="2377440" cy="338328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371600" y="5234940"/>
            <a:ext cx="11887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50" b="1">
                <a:solidFill>
                  <a:srgbClr val="0E7C86"/>
                </a:solidFill>
                <a:latin typeface="Calibri"/>
              </a:rPr>
              <a:t>Azure AI
Search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965960" y="4892040"/>
            <a:ext cx="1097280" cy="338328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651760" y="5234940"/>
            <a:ext cx="11887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50" b="1">
                <a:solidFill>
                  <a:srgbClr val="0E7C86"/>
                </a:solidFill>
                <a:latin typeface="Calibri"/>
              </a:rPr>
              <a:t>Cosmos DB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63240" y="4892040"/>
            <a:ext cx="182880" cy="338328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931920" y="5234940"/>
            <a:ext cx="118872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50" b="1">
                <a:solidFill>
                  <a:srgbClr val="0E7C86"/>
                </a:solidFill>
                <a:latin typeface="Calibri"/>
              </a:rPr>
              <a:t>Container
Apps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4892040"/>
            <a:ext cx="1463040" cy="338328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58000" y="1280160"/>
            <a:ext cx="4846320" cy="50292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0" y="1463040"/>
            <a:ext cx="429768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1E0"/>
                </a:solidFill>
                <a:latin typeface="Calibri"/>
              </a:rPr>
              <a:t>¿POR QUÉ ESTA ARQUITECTURA?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▪  Separa con claridad identidad (Entra ID), interpretación de lenguaje (LLM) y ejecución de negocio (Tools) — cada capa se prueba y evalúa por separado.</a:t>
            </a:r>
          </a:p>
          <a:p>
            <a:pPr>
              <a:spcAft>
                <a:spcPts val="13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▪  OAuth2 Authorization Code + PKCE es el estándar recomendado para aplicaciones públicas sin secreto de cliente, como esta SPA.</a:t>
            </a:r>
          </a:p>
          <a:p>
            <a:pPr>
              <a:spcAft>
                <a:spcPts val="13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▪  El Supervisor enruta de forma determinista, no probabilística — el comportamiento es reproducible y auditable.</a:t>
            </a:r>
          </a:p>
          <a:p>
            <a:pPr>
              <a:spcAft>
                <a:spcPts val="13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▪  Cada Agente accede a los mismos servicios de Azure a través de una capa de herramientas común — ningún Agente accede a una base de datos directamente.</a:t>
            </a:r>
          </a:p>
          <a:p>
            <a:pPr>
              <a:spcAft>
                <a:spcPts val="13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▪  La arquitectura está preparada para evolucionar (Azure Functions, escalado) sin rehacer el diseño — se detalla en la Diapositiva 10.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TMX Enterprise AI Reference Platform — Defensa Final del Proyecto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6528816"/>
            <a:ext cx="47548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555555"/>
                </a:solidFill>
                <a:latin typeface="Calibri"/>
              </a:rPr>
              <a:t>Fuente: ADR-0010, docs/Architecture/diagrams/authentication-request-flow.md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CÓMO COLABORAN LOS 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Arquitectura Multiagente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Supervisor — punto único de entrada; clasifica la intención y enruta al especialista.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Especialistas — Claims, Broker Services y Commercial Intake; cada uno con su propio conocimiento de dominio.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Tool Calling — el LLM solicita una herramienta; una capa determinista valida y ejecuta.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Memoria — los datos ya confirmados (póliza, cliente, broker) se reutilizan al cambiar de área.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Orquestación — el Supervisor mantiene el contexto de la conversación completa, no solo del turno actual.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440680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32120"/>
            <a:ext cx="4754880" cy="7315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55555"/>
                </a:solidFill>
                <a:latin typeface="Calibri"/>
              </a:rPr>
              <a:t>Patrón ReAct: el modelo razona sobre qué herramienta necesita, la solicita, recibe el resultado y continúa la conversación con datos reales — nunca inventa una respuesta.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14300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Usuario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2240" y="1645920"/>
            <a:ext cx="0" cy="4389120"/>
          </a:xfrm>
          <a:prstGeom prst="line">
            <a:avLst/>
          </a:prstGeom>
          <a:ln w="12700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69480" y="114300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Supervisor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09560" y="1645920"/>
            <a:ext cx="0" cy="4389120"/>
          </a:xfrm>
          <a:prstGeom prst="line">
            <a:avLst/>
          </a:prstGeom>
          <a:ln w="12700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0" y="114300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Agente
Especialista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0" y="1645920"/>
            <a:ext cx="0" cy="4389120"/>
          </a:xfrm>
          <a:prstGeom prst="line">
            <a:avLst/>
          </a:prstGeom>
          <a:ln w="12700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114300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Tool /
Azure OpenAI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744200" y="1645920"/>
            <a:ext cx="0" cy="4389120"/>
          </a:xfrm>
          <a:prstGeom prst="line">
            <a:avLst/>
          </a:prstGeom>
          <a:ln w="12700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92240" y="2057400"/>
            <a:ext cx="141732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92240" y="1801368"/>
            <a:ext cx="155448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555555"/>
                </a:solidFill>
                <a:latin typeface="Calibri"/>
              </a:rPr>
              <a:t>1. Mensaje del usuario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2770632"/>
            <a:ext cx="141732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09560" y="2514600"/>
            <a:ext cx="155448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555555"/>
                </a:solidFill>
                <a:latin typeface="Calibri"/>
              </a:rPr>
              <a:t>2. Intención → Agente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0" y="3483864"/>
            <a:ext cx="1417320" cy="0"/>
          </a:xfrm>
          <a:prstGeom prst="line">
            <a:avLst/>
          </a:prstGeom>
          <a:ln w="2540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26880" y="3227832"/>
            <a:ext cx="155448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555555"/>
                </a:solidFill>
                <a:latin typeface="Calibri"/>
              </a:rPr>
              <a:t>3. Solicita Tool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326880" y="4197096"/>
            <a:ext cx="141732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326880" y="3941064"/>
            <a:ext cx="155448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555555"/>
                </a:solidFill>
                <a:latin typeface="Calibri"/>
              </a:rPr>
              <a:t>4. Resultado real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909560" y="4910328"/>
            <a:ext cx="141732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09560" y="4654296"/>
            <a:ext cx="155448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555555"/>
                </a:solidFill>
                <a:latin typeface="Calibri"/>
              </a:rPr>
              <a:t>5. Respuesta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492240" y="5623560"/>
            <a:ext cx="141732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92240" y="5367528"/>
            <a:ext cx="155448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555555"/>
                </a:solidFill>
                <a:latin typeface="Calibri"/>
              </a:rPr>
              <a:t>6. Respuesta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TMX Enterprise AI Reference Platform — Defensa Final del Proyecto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6528816"/>
            <a:ext cx="47548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555555"/>
                </a:solidFill>
                <a:latin typeface="Calibri"/>
              </a:rPr>
              <a:t>Fuente: src/supervisor/orchestrator.py, src/core/tool_calling/orchestrator.py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CONFIANZA Y PROTECCIÓN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Seguridad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82980"/>
            <a:ext cx="17830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1">
                <a:solidFill>
                  <a:srgbClr val="1F3A5F"/>
                </a:solidFill>
                <a:latin typeface="Calibri"/>
              </a:rPr>
              <a:t>Usuario inicia
sesión (MSAL)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1371600"/>
            <a:ext cx="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95728" y="982980"/>
            <a:ext cx="17830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1">
                <a:solidFill>
                  <a:srgbClr val="1F3A5F"/>
                </a:solidFill>
                <a:latin typeface="Calibri"/>
              </a:rPr>
              <a:t>OAuth2 Authorization
Code + PKCE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1371600"/>
            <a:ext cx="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88536" y="982980"/>
            <a:ext cx="17830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1">
                <a:solidFill>
                  <a:srgbClr val="1F3A5F"/>
                </a:solidFill>
                <a:latin typeface="Calibri"/>
              </a:rPr>
              <a:t>Microsoft Entra ID
(/common)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1371600"/>
            <a:ext cx="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81344" y="982980"/>
            <a:ext cx="17830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1">
                <a:solidFill>
                  <a:srgbClr val="1F3A5F"/>
                </a:solidFill>
                <a:latin typeface="Calibri"/>
              </a:rPr>
              <a:t>Token en cada
solicitud (Bearer)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1371600"/>
            <a:ext cx="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74152" y="982980"/>
            <a:ext cx="17830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1">
                <a:solidFill>
                  <a:srgbClr val="1E8A4C"/>
                </a:solidFill>
                <a:latin typeface="Calibri"/>
              </a:rPr>
              <a:t>Validación JWT
(firma / exp / aud / iss vía JWKS)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1371600"/>
            <a:ext cx="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66960" y="982980"/>
            <a:ext cx="17830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1">
                <a:solidFill>
                  <a:srgbClr val="1E8A4C"/>
                </a:solidFill>
                <a:latin typeface="Calibri"/>
              </a:rPr>
              <a:t>Identidad
tid : 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965960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55555"/>
                </a:solidFill>
                <a:latin typeface="Calibri"/>
              </a:rPr>
              <a:t>Cada solicitud se valida de extremo a extremo — ningún paso confía implícitamente en el anterior.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468880"/>
            <a:ext cx="3685032" cy="3520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606040"/>
            <a:ext cx="3319272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A5F"/>
                </a:solidFill>
                <a:latin typeface="Calibri"/>
              </a:rPr>
              <a:t>Identidad empresarial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971800"/>
            <a:ext cx="331927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>
                <a:solidFill>
                  <a:srgbClr val="142640"/>
                </a:solidFill>
                <a:latin typeface="Calibri"/>
              </a:rPr>
              <a:t>▪  Microsoft Entra ID como proveedor único de identidad.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142640"/>
                </a:solidFill>
                <a:latin typeface="Calibri"/>
              </a:rPr>
              <a:t>▪  MSAL en el frontend — sin secreto de cliente en la SPA.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142640"/>
                </a:solidFill>
                <a:latin typeface="Calibri"/>
              </a:rPr>
              <a:t>▪  OAuth2 Authorization Code + PKCE, no el flujo implícito.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2468880"/>
            <a:ext cx="3685032" cy="3520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43984" y="2606040"/>
            <a:ext cx="3319272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A5F"/>
                </a:solidFill>
                <a:latin typeface="Calibri"/>
              </a:rPr>
              <a:t>Validación del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2971800"/>
            <a:ext cx="331927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>
                <a:solidFill>
                  <a:srgbClr val="142640"/>
                </a:solidFill>
                <a:latin typeface="Calibri"/>
              </a:rPr>
              <a:t>▪  Firma JWT (RS256) verificada contra JWKS en vivo.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142640"/>
                </a:solidFill>
                <a:latin typeface="Calibri"/>
              </a:rPr>
              <a:t>▪  Expiración, audiencia y emisor validados en cada solicitud.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142640"/>
                </a:solidFill>
                <a:latin typeface="Calibri"/>
              </a:rPr>
              <a:t>▪  Identidad = tid : oid — nunca el correo electrónico.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9288" y="2468880"/>
            <a:ext cx="3685032" cy="3520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2168" y="2606040"/>
            <a:ext cx="3319272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A5F"/>
                </a:solidFill>
                <a:latin typeface="Calibri"/>
              </a:rPr>
              <a:t>Aislamiento de conversaciones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2971800"/>
            <a:ext cx="331927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>
                <a:solidFill>
                  <a:srgbClr val="142640"/>
                </a:solidFill>
                <a:latin typeface="Calibri"/>
              </a:rPr>
              <a:t>▪  Mitigación de IDOR: el identificador de usuario nunca lo envía el cliente.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142640"/>
                </a:solidFill>
                <a:latin typeface="Calibri"/>
              </a:rPr>
              <a:t>▪  Comprobado con pruebas automatizadas, no solo diseñado.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142640"/>
                </a:solidFill>
                <a:latin typeface="Calibri"/>
              </a:rPr>
              <a:t>▪  CORS permite explícitamente el encabezado Authorization.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6080760"/>
            <a:ext cx="11201400" cy="5029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144768"/>
            <a:ext cx="1078992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¿Por qué importa en un sistema empresarial? Porque la identidad del usuario nunca depende de lo que la aplicación cliente afirma sobre sí misma.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CÓMO SE CONSTRUYE Y DESPLIEGA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DevOps y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4864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Contenerización y despliegue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42640"/>
                </a:solidFill>
                <a:latin typeface="Calibri"/>
              </a:rPr>
              <a:t>▪  Docker para API y Web; imágenes publicadas en Azure Container Registry.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640"/>
                </a:solidFill>
                <a:latin typeface="Calibri"/>
              </a:rPr>
              <a:t>▪  Ejecución en Azure Container Apps — entorno administrado, sin gestión de servidores.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640"/>
                </a:solidFill>
                <a:latin typeface="Calibri"/>
              </a:rPr>
              <a:t>▪  Infraestructura como Código con Azure Bicep, versionada junto al código fuente.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54864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Integración y entrega continua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42640"/>
                </a:solidFill>
                <a:latin typeface="Calibri"/>
              </a:rPr>
              <a:t>▪  Pipeline de Azure DevOps con etapas de calidad, seguridad, construcción, infraestructura y despliegue.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640"/>
                </a:solidFill>
                <a:latin typeface="Calibri"/>
              </a:rPr>
              <a:t>▪  Smoke Tests automáticos tras cada despliegue a DEV — validan salud y funcionalidad real.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640"/>
                </a:solidFill>
                <a:latin typeface="Calibri"/>
              </a:rPr>
              <a:t>▪  El despliegue solo ocurre desde la rama principal; cada imagen queda asociada a un commit.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143000"/>
            <a:ext cx="5212080" cy="4937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325880"/>
            <a:ext cx="475488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Puertas de calidad (Quality Gates)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42640"/>
                </a:solidFill>
                <a:latin typeface="Calibri"/>
              </a:rPr>
              <a:t>▪  Análisis estático (ruff) y de tipos (mypy) en cada cambio.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42640"/>
                </a:solidFill>
                <a:latin typeface="Calibri"/>
              </a:rPr>
              <a:t>▪  Escaneo de dependencias vulnerables y de secretos expuestos.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42640"/>
                </a:solidFill>
                <a:latin typeface="Calibri"/>
              </a:rPr>
              <a:t>▪  Suite de pruebas automatizadas ejecutada en cada integración.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42640"/>
                </a:solidFill>
                <a:latin typeface="Calibri"/>
              </a:rPr>
              <a:t>▪  Ninguna etapa posterior avanza si una anterior falla.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77190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Calidad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7190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Seguridad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909560" y="4023360"/>
            <a:ext cx="137160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377190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Construcción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9509760" y="4023360"/>
            <a:ext cx="137160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46520" y="473202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Infraestructura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73202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Despliegue DEV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909560" y="4983480"/>
            <a:ext cx="137160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46920" y="473202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Smoke Tests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9509760" y="4983480"/>
            <a:ext cx="137160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TMX Enterprise AI Reference Platform — Defensa Final del Proyecto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528816"/>
            <a:ext cx="47548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555555"/>
                </a:solidFill>
                <a:latin typeface="Calibri"/>
              </a:rPr>
              <a:t>Fuente: azure-pipelines.yml, review/03_code_quality_review.md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EVIDENCIA DE LA 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Resultados del Proyecto — Métricas de Implementación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08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5577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Métrica de implementación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Valor actual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640"/>
                          </a:solidFill>
                        </a:rPr>
                        <a:t>Pruebas de backend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640"/>
                          </a:solidFill>
                        </a:rPr>
                        <a:t>684 casos, en ejecución exitosa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640"/>
                          </a:solidFill>
                        </a:rPr>
                        <a:t>Pruebas de frontend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640"/>
                          </a:solidFill>
                        </a:rPr>
                        <a:t>40 casos, en ejecución exitosa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640"/>
                          </a:solidFill>
                        </a:rPr>
                        <a:t>Decisiones de arquitectura (ADR)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640"/>
                          </a:solidFill>
                        </a:rPr>
                        <a:t>10 documentadas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640"/>
                          </a:solidFill>
                        </a:rPr>
                        <a:t>Hallazgos de seguridad corregidos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640"/>
                          </a:solidFill>
                        </a:rPr>
                        <a:t>Autenticación e IDOR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640"/>
                          </a:solidFill>
                        </a:rPr>
                        <a:t>Hallazgos abiertos (registro de riesgos)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640"/>
                          </a:solidFill>
                        </a:rPr>
                        <a:t>22 (0 críticos, 0 altos)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14800"/>
            <a:ext cx="5577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55555"/>
                </a:solidFill>
                <a:latin typeface="Calibri"/>
              </a:rPr>
              <a:t>Estas son métricas de ingeniería, no indicadores de negocio — el proyecto no cuenta aún con una base real de usuarios sobre la cual medir adopción o impacto comercial.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557784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Evaluación de arquitectura (Production Readiness)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5212080"/>
          <a:ext cx="55778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Evaluación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Puntaje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Antes de autenticación (seguridad)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2 /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Tras Entra ID, 5 dimensiones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3.8 / 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Evaluación final, 10 dimensiones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3.5 /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92240" y="1188720"/>
            <a:ext cx="5212080" cy="52578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371600"/>
            <a:ext cx="47548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1E0"/>
                </a:solidFill>
                <a:latin typeface="Calibri"/>
              </a:rPr>
              <a:t>MEJORAS DE SEGURIDAD LOGRADAS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1E8A4C"/>
                </a:solidFill>
                <a:latin typeface="Calibri"/>
              </a:rPr>
              <a:t>▪  Autenticación faltante — resuelta con Microsoft Entra ID de extremo a extremo.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E8A4C"/>
                </a:solidFill>
                <a:latin typeface="Calibri"/>
              </a:rPr>
              <a:t>▪  Confianza de identidad del lado cliente — resuelta; la identidad ya nunca la afirma el cliente.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E8A4C"/>
                </a:solidFill>
                <a:latin typeface="Calibri"/>
              </a:rPr>
              <a:t>▪  IDOR en el historial de conversaciones — resuelto y comprobado con pruebas de regresión.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566160"/>
            <a:ext cx="4754880" cy="10972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C9D8E8"/>
                </a:solidFill>
                <a:latin typeface="Calibri"/>
              </a:rPr>
              <a:t>El puntaje de 10 dimensiones es menor que el de 3.8 no por retroceso, sino porque evalúa por separado 5 dimensiones (escalabilidad, DevOps, IA, orquestación, madurez empresarial) que antes se agrupaban en categorías más amplias. La seguridad en sí se mantiene en 4/5.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846320"/>
            <a:ext cx="475488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C1E0"/>
                </a:solidFill>
                <a:latin typeface="Calibri"/>
              </a:rPr>
              <a:t>Assessment completo del proyecto: review/06_enterprise_architecture_assessment.md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TMX Enterprise AI Reference Platform — Defensa Final del Proyecto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6528816"/>
            <a:ext cx="47548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555555"/>
                </a:solidFill>
                <a:latin typeface="Calibri"/>
              </a:rPr>
              <a:t>Fuente: review/04_risk_register.md, review/06_enterprise_architecture_assessment.md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EL SISTEMA EN 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1. Inicio de sesión con Microsoft (Entra ID)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2. Conversación de Siniestros, de principio a fin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3. Servicios a Corredores — comisiones y pago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4. Nuevos Negocios — registro de un prospecto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5. Memoria conversacional e historial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80560"/>
            <a:ext cx="502920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55555"/>
                </a:solidFill>
                <a:latin typeface="Calibri"/>
              </a:rPr>
              <a:t>Las capturas corresponden a sesiones reales de validación en el entorno DEV; la demostración en vivo mostrará la sesión actual autenticada con Microsoft Entra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04_policy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1472674"/>
            <a:ext cx="2734056" cy="18552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358444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Servicios a Corredores — estado de póliza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2344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g_05b_claim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1472674"/>
            <a:ext cx="2734056" cy="18552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358444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Siniestro registrado, ajustador asignado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88620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ig_06b_payment_requ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4124434"/>
            <a:ext cx="2734056" cy="18552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0" y="623620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Solicitud de pago de comisión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388620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ig_08_conversation_mem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3921333"/>
            <a:ext cx="2734056" cy="22614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400" y="623620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Memoria conversacional entre áreas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TMX Enterprise AI Reference Platform — Defensa Final del Proyecto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6528816"/>
            <a:ext cx="47548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555555"/>
                </a:solidFill>
                <a:latin typeface="Calibri"/>
              </a:rPr>
              <a:t>Capturas: sesiones de validación DEV (docs/Architecture/Manual_de_Usuario.docx)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LO QUE EL PROYECTO ENSEÑÓ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Lecciones Aprendidas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La cuota de suscripción en la nube es una restricción real y externa — Azure Functions quedó diseñado, codificado y probado, pero pendiente de despliegue por falta de cuota de Microsoft.Web en la suscripción DEV. El sistema sigue funcionando en modo "en proceso" sin pérdida de funcionalidad para el usuario.</a:t>
            </a:r>
          </a:p>
          <a:p>
            <a:pPr>
              <a:spcAft>
                <a:spcPts val="14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Los Private Endpoints y el aislamiento de red quedaron deliberadamente diferidos en DEV por costo — una decisión documentada, no un descuido.</a:t>
            </a:r>
          </a:p>
          <a:p>
            <a:pPr>
              <a:spcAft>
                <a:spcPts val="14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El autoescalado aún no está configurado — la plataforma corre hoy con una sola réplica; escalar exige antes definir una regla de escalado real.</a:t>
            </a:r>
          </a:p>
          <a:p>
            <a:pPr>
              <a:spcAft>
                <a:spcPts val="14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El escalamiento humano por nivel de confianza estaba nombrado en la arquitectura pero no se había implementado — una brecha real entre lo documentado y lo construido, descubierta recién en la evaluación final de arquitectura.</a:t>
            </a:r>
          </a:p>
          <a:p>
            <a:pPr>
              <a:spcAft>
                <a:spcPts val="14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Desplegar en un entorno real reveló defectos que las pruebas unitarias no capturaban (un encabezado CORS faltante y un valor de audiencia de token incorrecto) — ambos corregidos y verificados con pruebas de regresión.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TMX Enterprise AI Reference Platform — Defensa Final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6528816"/>
            <a:ext cx="47548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555555"/>
                </a:solidFill>
                <a:latin typeface="Calibri"/>
              </a:rPr>
              <a:t>Fuente: ADR-0003, ADR-0001, ADR-0002, review/06_enterprise_architecture_assessment.md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EL CAMINO HACIA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Trabajo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99032"/>
            <a:ext cx="3291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Despliegue en producción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291840" cy="1325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Habilitar la capa serverless una vez otorgada la cuota; endurecer contenedores y encabezados de seguridad.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399032"/>
            <a:ext cx="3291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Datos reales de clientes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291840" cy="1325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Sustituir los datos sintéticos por información real bajo gobierno de datos y consentimiento apropiados.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399032"/>
            <a:ext cx="3291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Acuerdos de nivel de servicio (SLA)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03120"/>
            <a:ext cx="3291840" cy="1325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Definir tiempos de respuesta y disponibilidad comprometidos formalmente.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4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913632"/>
            <a:ext cx="3291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Monitoreo ampliado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17720"/>
            <a:ext cx="3291840" cy="1325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Alertas de eventos de seguridad (intentos de acceso fallidos), no solo de salud de infraestructura.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4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3913632"/>
            <a:ext cx="3291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Escalamiento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617720"/>
            <a:ext cx="3291840" cy="1325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Configurar una regla real de autoescalado y resolver el estado compartido entre réplicas.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74904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3913632"/>
            <a:ext cx="3291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Recuperación ante desastres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617720"/>
            <a:ext cx="3291840" cy="1325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Probar formalmente la restauración de respaldos; evaluar redundancia multi-región.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TMX Enterprise AI Reference Platform — Defensa Final del Proyecto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6528816"/>
            <a:ext cx="47548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555555"/>
                </a:solidFill>
                <a:latin typeface="Calibri"/>
              </a:rPr>
              <a:t>Fuente: review/04_risk_register.md — hallazgos P1/P2, review/06 §14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FC1E0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05840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31546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FC1E0"/>
                </a:solidFill>
                <a:latin typeface="Calibri"/>
              </a:rPr>
              <a:t>Valor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54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▪  Un punto de entrada conversacional para tres procesos antes fragmentados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▪  Respuestas basadas en información real, nunca inventadas por el modelo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▪  Un patrón reutilizable para futuras iniciativas de IA empresarial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78308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965960"/>
            <a:ext cx="31546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FC1E0"/>
                </a:solidFill>
                <a:latin typeface="Calibri"/>
              </a:rPr>
              <a:t>Logros técnicos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154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▪  Autenticación empresarial completa, con IDOR resuelto y comprobado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▪  Orquestación multiagente determinista con memoria conversacional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▪  Pipeline de CI/CD, pruebas automatizadas y observabilidad end-to-end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78308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965960"/>
            <a:ext cx="31546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FC1E0"/>
                </a:solidFill>
                <a:latin typeface="Calibri"/>
              </a:rPr>
              <a:t>Decisiones clave y próximo paso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77440"/>
            <a:ext cx="3154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▪  10 decisiones de arquitectura documentadas, con alternativas y consecuencias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▪  Separación estricta entre lenguaje (LLM) y ejecución de negocio (Tools)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▪  Lista para evolucionar hacia producción una vez resuelta la cuota de Azure Functions y el endurecimiento pendiente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69280"/>
            <a:ext cx="1051560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Gracias —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5CDD830F0DFE947841D2BEEC1936D14" ma:contentTypeVersion="6" ma:contentTypeDescription="Crear nuevo documento." ma:contentTypeScope="" ma:versionID="655e4670a87ee9399eacf22ce5a1d571">
  <xsd:schema xmlns:xsd="http://www.w3.org/2001/XMLSchema" xmlns:xs="http://www.w3.org/2001/XMLSchema" xmlns:p="http://schemas.microsoft.com/office/2006/metadata/properties" xmlns:ns3="9a58d698-1462-472e-a882-d4902efd54e3" targetNamespace="http://schemas.microsoft.com/office/2006/metadata/properties" ma:root="true" ma:fieldsID="753b8dbc7151d1a2f38db9640f20db6d" ns3:_="">
    <xsd:import namespace="9a58d698-1462-472e-a882-d4902efd54e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8d698-1462-472e-a882-d4902efd54e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a58d698-1462-472e-a882-d4902efd54e3" xsi:nil="true"/>
  </documentManagement>
</p:properties>
</file>

<file path=customXml/itemProps1.xml><?xml version="1.0" encoding="utf-8"?>
<ds:datastoreItem xmlns:ds="http://schemas.openxmlformats.org/officeDocument/2006/customXml" ds:itemID="{D8B9B085-0B3C-4E96-A3E2-709C7BDBB9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58d698-1462-472e-a882-d4902efd54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4E33EF-0588-4340-8C05-6707DBC3AE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A14A8C-FE8F-4C1E-BEAA-0C78D80526E4}">
  <ds:schemaRefs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9a58d698-1462-472e-a882-d4902efd54e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2109</Words>
  <Application>Microsoft Office PowerPoint</Application>
  <PresentationFormat>Panorámica</PresentationFormat>
  <Paragraphs>224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JOSE MIGUEL MARIN MERCADO</dc:creator>
  <cp:keywords/>
  <dc:description>generated using python-pptx</dc:description>
  <cp:lastModifiedBy>José Marín Mercado</cp:lastModifiedBy>
  <cp:revision>3</cp:revision>
  <dcterms:created xsi:type="dcterms:W3CDTF">2013-01-27T09:14:16Z</dcterms:created>
  <dcterms:modified xsi:type="dcterms:W3CDTF">2026-08-11T21:15:57Z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0x010100B5CDD830F0DFE947841D2BEEC1936D14</vt:lpwstr>
  </property>
</Properties>
</file>